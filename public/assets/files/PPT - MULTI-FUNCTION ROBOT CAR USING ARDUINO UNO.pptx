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DDC2"/>
    <a:srgbClr val="791628"/>
    <a:srgbClr val="FDEBE1"/>
    <a:srgbClr val="D5D5D5"/>
    <a:srgbClr val="D6D6D6"/>
    <a:srgbClr val="FFCC99"/>
    <a:srgbClr val="F7F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4C85-5E9D-4FE0-B1B4-A7C032BB907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ADBD-A73A-41B6-8B96-15A2FE24D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190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4C85-5E9D-4FE0-B1B4-A7C032BB907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ADBD-A73A-41B6-8B96-15A2FE24D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17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4C85-5E9D-4FE0-B1B4-A7C032BB907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ADBD-A73A-41B6-8B96-15A2FE24D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96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4C85-5E9D-4FE0-B1B4-A7C032BB907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ADBD-A73A-41B6-8B96-15A2FE24D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95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4C85-5E9D-4FE0-B1B4-A7C032BB907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ADBD-A73A-41B6-8B96-15A2FE24D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386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4C85-5E9D-4FE0-B1B4-A7C032BB907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ADBD-A73A-41B6-8B96-15A2FE24D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80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4C85-5E9D-4FE0-B1B4-A7C032BB907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ADBD-A73A-41B6-8B96-15A2FE24D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55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4C85-5E9D-4FE0-B1B4-A7C032BB907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ADBD-A73A-41B6-8B96-15A2FE24D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4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4C85-5E9D-4FE0-B1B4-A7C032BB907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ADBD-A73A-41B6-8B96-15A2FE24D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62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4C85-5E9D-4FE0-B1B4-A7C032BB907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ADBD-A73A-41B6-8B96-15A2FE24D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01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4C85-5E9D-4FE0-B1B4-A7C032BB907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ADBD-A73A-41B6-8B96-15A2FE24D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8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74C85-5E9D-4FE0-B1B4-A7C032BB907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7ADBD-A73A-41B6-8B96-15A2FE24D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36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2321919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A Final Year Project Report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48471" y="2707061"/>
            <a:ext cx="9895058" cy="0"/>
          </a:xfrm>
          <a:prstGeom prst="line">
            <a:avLst/>
          </a:prstGeom>
          <a:ln w="28575">
            <a:solidFill>
              <a:srgbClr val="7916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545049"/>
              </p:ext>
            </p:extLst>
          </p:nvPr>
        </p:nvGraphicFramePr>
        <p:xfrm>
          <a:off x="1953623" y="2906694"/>
          <a:ext cx="8565660" cy="267455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282830"/>
                <a:gridCol w="4282830"/>
              </a:tblGrid>
              <a:tr h="32759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Student Name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Roll No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1628"/>
                    </a:solidFill>
                  </a:tcPr>
                </a:tc>
              </a:tr>
              <a:tr h="329402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Dus</a:t>
                      </a: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Mamud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CHP/23/EL/020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</a:tr>
              <a:tr h="329402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Iswar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Ch. Das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B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CHP/23/EL/025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BE1"/>
                    </a:solidFill>
                  </a:tcPr>
                </a:tc>
              </a:tr>
              <a:tr h="329402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Bhardwaj Sarkar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CHP/23/EL/008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</a:tr>
              <a:tr h="329402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Anup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Das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B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CHP/23/EL/005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BE1"/>
                    </a:solidFill>
                  </a:tcPr>
                </a:tc>
              </a:tr>
              <a:tr h="329402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Dibyajyoti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Das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CHP/23/EL/016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</a:tr>
              <a:tr h="329402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Nazrul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Islam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CHP/23/EL/046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29402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Sourab</a:t>
                      </a:r>
                      <a:r>
                        <a:rPr lang="en-US" sz="16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Sarkar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CHP/23/EL/059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0" y="571725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smtClean="0">
                <a:solidFill>
                  <a:srgbClr val="7916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the Guidance of</a:t>
            </a:r>
            <a:r>
              <a:rPr lang="en-US" b="1" i="1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Ms. </a:t>
            </a:r>
            <a:r>
              <a:rPr lang="en-US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Chinmayee</a:t>
            </a:r>
            <a:r>
              <a:rPr lang="en-US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Medhi</a:t>
            </a:r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, Lecturer, Electrical </a:t>
            </a:r>
            <a:r>
              <a:rPr lang="en-US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Engg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610240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Electrical Engineering | Chirang Polytechnic, Bijni, Assam |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  <a:r>
              <a:rPr lang="en-US" sz="2000" b="1" baseline="300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May,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  <a:endParaRPr lang="en-US" sz="20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379" y="46113"/>
            <a:ext cx="1541417" cy="154141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5340" l="9992" r="89967">
                        <a14:backgroundMark x1="30388" y1="65828" x2="30388" y2="65828"/>
                        <a14:backgroundMark x1="38563" y1="79068" x2="38563" y2="79068"/>
                        <a14:backgroundMark x1="60900" y1="68195" x2="60900" y2="68195"/>
                        <a14:backgroundMark x1="69364" y1="61169" x2="69364" y2="61169"/>
                        <a14:backgroundMark x1="70273" y1="55621" x2="70273" y2="55621"/>
                        <a14:backgroundMark x1="56771" y1="59763" x2="56771" y2="59763"/>
                        <a14:backgroundMark x1="30264" y1="21893" x2="30264" y2="21893"/>
                        <a14:backgroundMark x1="31420" y1="26257" x2="31420" y2="26257"/>
                        <a14:backgroundMark x1="54789" y1="71672" x2="54789" y2="716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19224"/>
            <a:ext cx="2310950" cy="1289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186777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MULTI-FUNCTION ROBOT CAR USING </a:t>
            </a:r>
            <a:r>
              <a:rPr lang="en-US" sz="3000" b="1" dirty="0" smtClean="0">
                <a:solidFill>
                  <a:srgbClr val="791628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ARDUINO UNO</a:t>
            </a:r>
            <a:endParaRPr lang="en-US" sz="3000" b="1" dirty="0">
              <a:solidFill>
                <a:srgbClr val="791628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5340" l="9992" r="89967">
                        <a14:backgroundMark x1="30388" y1="65828" x2="30388" y2="65828"/>
                        <a14:backgroundMark x1="38563" y1="79068" x2="38563" y2="79068"/>
                        <a14:backgroundMark x1="60900" y1="68195" x2="60900" y2="68195"/>
                        <a14:backgroundMark x1="69364" y1="61169" x2="69364" y2="61169"/>
                        <a14:backgroundMark x1="70273" y1="55621" x2="70273" y2="55621"/>
                        <a14:backgroundMark x1="56771" y1="59763" x2="56771" y2="59763"/>
                        <a14:backgroundMark x1="30264" y1="21893" x2="30264" y2="21893"/>
                        <a14:backgroundMark x1="31420" y1="26257" x2="31420" y2="26257"/>
                        <a14:backgroundMark x1="54789" y1="71672" x2="54789" y2="716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020" y="44417"/>
            <a:ext cx="2444980" cy="136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18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 flipV="1">
            <a:off x="557349" y="768639"/>
            <a:ext cx="11077303" cy="18674"/>
          </a:xfrm>
          <a:prstGeom prst="line">
            <a:avLst/>
          </a:prstGeom>
          <a:ln w="28575">
            <a:solidFill>
              <a:srgbClr val="7916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157"/>
          <a:stretch/>
        </p:blipFill>
        <p:spPr>
          <a:xfrm rot="16200000">
            <a:off x="9026887" y="2626573"/>
            <a:ext cx="4937270" cy="13842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7348" y="182666"/>
            <a:ext cx="11177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Contents</a:t>
            </a:r>
            <a:endParaRPr lang="en-US" sz="2800" b="1" dirty="0">
              <a:solidFill>
                <a:srgbClr val="791628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287885"/>
              </p:ext>
            </p:extLst>
          </p:nvPr>
        </p:nvGraphicFramePr>
        <p:xfrm>
          <a:off x="557348" y="1231942"/>
          <a:ext cx="5020492" cy="484228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020492"/>
              </a:tblGrid>
              <a:tr h="691755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01</a:t>
                      </a:r>
                      <a:r>
                        <a:rPr lang="en-US" sz="2400" b="0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en-US" sz="2000" b="0" dirty="0" smtClean="0">
                          <a:latin typeface="Georgia" panose="02040502050405020303" pitchFamily="18" charset="0"/>
                        </a:rPr>
                        <a:t>- Objectives</a:t>
                      </a:r>
                      <a:endParaRPr lang="en-US" sz="2000" b="0" dirty="0">
                        <a:latin typeface="Georgia" panose="02040502050405020303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1755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02</a:t>
                      </a:r>
                      <a:r>
                        <a:rPr lang="en-US" sz="2400" b="0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en-US" sz="2000" b="0" dirty="0" smtClean="0">
                          <a:latin typeface="Georgia" panose="02040502050405020303" pitchFamily="18" charset="0"/>
                        </a:rPr>
                        <a:t>– Introduction </a:t>
                      </a:r>
                      <a:endParaRPr lang="en-US" sz="2000" b="0" dirty="0">
                        <a:latin typeface="Georgia" panose="02040502050405020303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>
                        <a:alpha val="20000"/>
                      </a:srgbClr>
                    </a:solidFill>
                  </a:tcPr>
                </a:tc>
              </a:tr>
              <a:tr h="691755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03</a:t>
                      </a:r>
                      <a:r>
                        <a:rPr lang="en-US" sz="2400" b="0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en-US" sz="2000" b="0" dirty="0" smtClean="0">
                          <a:latin typeface="Georgia" panose="02040502050405020303" pitchFamily="18" charset="0"/>
                        </a:rPr>
                        <a:t>–</a:t>
                      </a:r>
                      <a:r>
                        <a:rPr lang="en-US" sz="2000" b="0" baseline="0" dirty="0" smtClean="0"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en-US" sz="2000" b="0" dirty="0" smtClean="0">
                          <a:latin typeface="Georgia" panose="02040502050405020303" pitchFamily="18" charset="0"/>
                        </a:rPr>
                        <a:t>System Block Diagram</a:t>
                      </a:r>
                      <a:endParaRPr lang="en-US" sz="2000" b="0" dirty="0">
                        <a:latin typeface="Georgia" panose="02040502050405020303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1755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04</a:t>
                      </a:r>
                      <a:r>
                        <a:rPr lang="en-US" sz="2400" b="0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en-US" sz="2000" b="0" dirty="0" smtClean="0">
                          <a:latin typeface="Georgia" panose="02040502050405020303" pitchFamily="18" charset="0"/>
                        </a:rPr>
                        <a:t>–</a:t>
                      </a:r>
                      <a:r>
                        <a:rPr lang="en-US" sz="2000" b="0" baseline="0" dirty="0" smtClean="0"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en-US" sz="2000" b="0" dirty="0" smtClean="0">
                          <a:latin typeface="Georgia" panose="02040502050405020303" pitchFamily="18" charset="0"/>
                        </a:rPr>
                        <a:t>Circuit Connection</a:t>
                      </a:r>
                      <a:endParaRPr lang="en-US" sz="2000" b="0" dirty="0">
                        <a:latin typeface="Georgia" panose="02040502050405020303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>
                        <a:alpha val="20000"/>
                      </a:srgbClr>
                    </a:solidFill>
                  </a:tcPr>
                </a:tc>
              </a:tr>
              <a:tr h="691755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05</a:t>
                      </a:r>
                      <a:r>
                        <a:rPr lang="en-US" sz="2400" b="0" dirty="0" smtClean="0"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en-US" sz="2000" b="0" dirty="0" smtClean="0">
                          <a:latin typeface="Georgia" panose="02040502050405020303" pitchFamily="18" charset="0"/>
                        </a:rPr>
                        <a:t>– Working Principle </a:t>
                      </a:r>
                      <a:endParaRPr lang="en-US" sz="2000" b="0" dirty="0">
                        <a:latin typeface="Georgia" panose="02040502050405020303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1755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06</a:t>
                      </a:r>
                      <a:r>
                        <a:rPr lang="en-US" sz="2400" b="0" dirty="0" smtClean="0"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en-US" sz="2000" b="0" dirty="0" smtClean="0">
                          <a:latin typeface="Georgia" panose="02040502050405020303" pitchFamily="18" charset="0"/>
                        </a:rPr>
                        <a:t>– Flowchart </a:t>
                      </a:r>
                      <a:endParaRPr lang="en-US" sz="2000" b="0" dirty="0">
                        <a:latin typeface="Georgia" panose="02040502050405020303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>
                        <a:alpha val="20000"/>
                      </a:srgbClr>
                    </a:solidFill>
                  </a:tcPr>
                </a:tc>
              </a:tr>
              <a:tr h="691755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07</a:t>
                      </a:r>
                      <a:r>
                        <a:rPr lang="en-US" sz="2400" b="0" dirty="0" smtClean="0"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en-US" sz="2000" b="0" dirty="0" smtClean="0">
                          <a:latin typeface="Georgia" panose="02040502050405020303" pitchFamily="18" charset="0"/>
                        </a:rPr>
                        <a:t>– Software Platforms </a:t>
                      </a:r>
                      <a:endParaRPr lang="en-US" sz="2000" b="0" dirty="0">
                        <a:latin typeface="Georgia" panose="02040502050405020303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886095"/>
              </p:ext>
            </p:extLst>
          </p:nvPr>
        </p:nvGraphicFramePr>
        <p:xfrm>
          <a:off x="6688183" y="1240651"/>
          <a:ext cx="4115211" cy="484228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115211"/>
              </a:tblGrid>
              <a:tr h="691755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08</a:t>
                      </a:r>
                      <a:r>
                        <a:rPr lang="en-US" sz="2400" b="0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en-US" sz="2000" b="0" dirty="0" smtClean="0">
                          <a:latin typeface="Georgia" panose="02040502050405020303" pitchFamily="18" charset="0"/>
                        </a:rPr>
                        <a:t>- Hardware Components</a:t>
                      </a:r>
                      <a:endParaRPr lang="en-US" sz="2000" b="0" dirty="0">
                        <a:latin typeface="Georgia" panose="02040502050405020303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1755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09</a:t>
                      </a:r>
                      <a:r>
                        <a:rPr lang="en-US" sz="2400" b="0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en-US" sz="2000" b="0" dirty="0" smtClean="0">
                          <a:latin typeface="Georgia" panose="02040502050405020303" pitchFamily="18" charset="0"/>
                        </a:rPr>
                        <a:t>– Introduction </a:t>
                      </a:r>
                      <a:endParaRPr lang="en-US" sz="2000" b="0" dirty="0">
                        <a:latin typeface="Georgia" panose="02040502050405020303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>
                        <a:alpha val="20000"/>
                      </a:srgbClr>
                    </a:solidFill>
                  </a:tcPr>
                </a:tc>
              </a:tr>
              <a:tr h="691755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10</a:t>
                      </a:r>
                      <a:r>
                        <a:rPr lang="en-US" sz="2400" b="0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en-US" sz="2000" b="0" dirty="0" smtClean="0">
                          <a:latin typeface="Georgia" panose="02040502050405020303" pitchFamily="18" charset="0"/>
                        </a:rPr>
                        <a:t>– Advantages &amp; Disadvantages</a:t>
                      </a:r>
                      <a:endParaRPr lang="en-US" sz="2000" b="0" dirty="0">
                        <a:latin typeface="Georgia" panose="02040502050405020303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1755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11</a:t>
                      </a:r>
                      <a:r>
                        <a:rPr lang="en-US" sz="2400" b="0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en-US" sz="2000" b="0" dirty="0" smtClean="0">
                          <a:latin typeface="Georgia" panose="02040502050405020303" pitchFamily="18" charset="0"/>
                        </a:rPr>
                        <a:t>– Test Results</a:t>
                      </a:r>
                      <a:endParaRPr lang="en-US" sz="2000" b="0" dirty="0">
                        <a:latin typeface="Georgia" panose="02040502050405020303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>
                        <a:alpha val="20000"/>
                      </a:srgbClr>
                    </a:solidFill>
                  </a:tcPr>
                </a:tc>
              </a:tr>
              <a:tr h="691755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12</a:t>
                      </a:r>
                      <a:r>
                        <a:rPr lang="en-US" sz="2400" b="0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en-US" sz="2000" b="0" dirty="0" smtClean="0">
                          <a:latin typeface="Georgia" panose="02040502050405020303" pitchFamily="18" charset="0"/>
                        </a:rPr>
                        <a:t>– Conclusion </a:t>
                      </a:r>
                      <a:endParaRPr lang="en-US" sz="2000" b="0" dirty="0">
                        <a:latin typeface="Georgia" panose="02040502050405020303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1755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13</a:t>
                      </a:r>
                      <a:r>
                        <a:rPr lang="en-US" sz="2400" b="0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en-US" sz="2000" b="0" dirty="0" smtClean="0">
                          <a:latin typeface="Georgia" panose="02040502050405020303" pitchFamily="18" charset="0"/>
                        </a:rPr>
                        <a:t>– Future Enhancement</a:t>
                      </a:r>
                      <a:endParaRPr lang="en-US" sz="2000" b="0" dirty="0">
                        <a:latin typeface="Georgia" panose="02040502050405020303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>
                        <a:alpha val="20000"/>
                      </a:srgbClr>
                    </a:solidFill>
                  </a:tcPr>
                </a:tc>
              </a:tr>
              <a:tr h="691755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14</a:t>
                      </a:r>
                      <a:r>
                        <a:rPr lang="en-US" sz="2400" b="0" dirty="0" smtClean="0">
                          <a:solidFill>
                            <a:srgbClr val="791628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en-US" sz="2000" b="0" dirty="0" smtClean="0">
                          <a:latin typeface="Georgia" panose="02040502050405020303" pitchFamily="18" charset="0"/>
                        </a:rPr>
                        <a:t>– References </a:t>
                      </a:r>
                      <a:endParaRPr lang="en-US" sz="2000" b="0" dirty="0">
                        <a:latin typeface="Georgia" panose="02040502050405020303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18606" y="6348549"/>
            <a:ext cx="1055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791628"/>
                </a:solidFill>
                <a:effectLst/>
              </a:rPr>
              <a:t>─────────── ◆ ─────────── </a:t>
            </a:r>
            <a:endParaRPr lang="en-US" dirty="0">
              <a:solidFill>
                <a:srgbClr val="791628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096000" y="1332411"/>
            <a:ext cx="0" cy="4454925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144913" y="6440542"/>
            <a:ext cx="99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rgbClr val="791628"/>
                </a:solidFill>
              </a:rPr>
              <a:t>01</a:t>
            </a:r>
            <a:endParaRPr lang="en-US" dirty="0">
              <a:solidFill>
                <a:srgbClr val="7916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936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 flipV="1">
            <a:off x="557349" y="768639"/>
            <a:ext cx="11077303" cy="18674"/>
          </a:xfrm>
          <a:prstGeom prst="line">
            <a:avLst/>
          </a:prstGeom>
          <a:ln w="28575">
            <a:solidFill>
              <a:srgbClr val="7916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7348" y="182666"/>
            <a:ext cx="11177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Objectives of the Project</a:t>
            </a:r>
            <a:endParaRPr lang="en-US" sz="2800" b="1" dirty="0">
              <a:solidFill>
                <a:srgbClr val="791628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7347" y="850066"/>
            <a:ext cx="11684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>
                <a:ln>
                  <a:solidFill>
                    <a:srgbClr val="791628"/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Design, build and program a multi-function robot car with 3 control modes in 1 platform</a:t>
            </a:r>
            <a:endParaRPr lang="en-US" i="1" dirty="0">
              <a:ln>
                <a:solidFill>
                  <a:srgbClr val="791628"/>
                </a:solidFill>
              </a:ln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57347" y="1363578"/>
            <a:ext cx="11177453" cy="765668"/>
            <a:chOff x="557347" y="1363578"/>
            <a:chExt cx="11177453" cy="765668"/>
          </a:xfrm>
        </p:grpSpPr>
        <p:sp>
          <p:nvSpPr>
            <p:cNvPr id="3" name="Rounded Rectangle 2"/>
            <p:cNvSpPr/>
            <p:nvPr/>
          </p:nvSpPr>
          <p:spPr>
            <a:xfrm>
              <a:off x="557347" y="1363578"/>
              <a:ext cx="11177453" cy="765668"/>
            </a:xfrm>
            <a:prstGeom prst="roundRect">
              <a:avLst/>
            </a:prstGeom>
            <a:solidFill>
              <a:srgbClr val="791628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628"/>
                </a:solidFill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79269" y="1363578"/>
              <a:ext cx="11055531" cy="765668"/>
            </a:xfrm>
            <a:prstGeom prst="roundRect">
              <a:avLst>
                <a:gd name="adj" fmla="val 11955"/>
              </a:avLst>
            </a:prstGeom>
            <a:solidFill>
              <a:srgbClr val="F7F3E7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628"/>
                </a:solidFill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79269" y="1561746"/>
              <a:ext cx="44283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Obj. 1 – Chassis Construction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07577" y="1421360"/>
              <a:ext cx="6527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Build stable 4-wheel foam board chassis. Mount all electronics securely.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57346" y="2332945"/>
            <a:ext cx="11177453" cy="765668"/>
            <a:chOff x="557347" y="1363578"/>
            <a:chExt cx="11177453" cy="765668"/>
          </a:xfrm>
        </p:grpSpPr>
        <p:sp>
          <p:nvSpPr>
            <p:cNvPr id="20" name="Rounded Rectangle 19"/>
            <p:cNvSpPr/>
            <p:nvPr/>
          </p:nvSpPr>
          <p:spPr>
            <a:xfrm>
              <a:off x="557347" y="1363578"/>
              <a:ext cx="11177453" cy="765668"/>
            </a:xfrm>
            <a:prstGeom prst="roundRect">
              <a:avLst/>
            </a:prstGeom>
            <a:solidFill>
              <a:srgbClr val="791628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628"/>
                </a:solidFill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79269" y="1363578"/>
              <a:ext cx="11055531" cy="765668"/>
            </a:xfrm>
            <a:prstGeom prst="roundRect">
              <a:avLst>
                <a:gd name="adj" fmla="val 11955"/>
              </a:avLst>
            </a:prstGeom>
            <a:solidFill>
              <a:srgbClr val="FDEBE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628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79269" y="1561746"/>
              <a:ext cx="44283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Obj. 2 – Obstacle Avoidance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107577" y="1421360"/>
              <a:ext cx="6527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HC-SR04 detects 12 cm or less-Stop, Backward, Scan, Turn to clear path.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57345" y="3302312"/>
            <a:ext cx="11177453" cy="765668"/>
            <a:chOff x="557347" y="1363578"/>
            <a:chExt cx="11177453" cy="765668"/>
          </a:xfrm>
        </p:grpSpPr>
        <p:sp>
          <p:nvSpPr>
            <p:cNvPr id="25" name="Rounded Rectangle 24"/>
            <p:cNvSpPr/>
            <p:nvPr/>
          </p:nvSpPr>
          <p:spPr>
            <a:xfrm>
              <a:off x="557347" y="1363578"/>
              <a:ext cx="11177453" cy="765668"/>
            </a:xfrm>
            <a:prstGeom prst="roundRect">
              <a:avLst/>
            </a:prstGeom>
            <a:solidFill>
              <a:srgbClr val="791628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628"/>
                </a:solidFill>
              </a:endParaRP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679269" y="1363578"/>
              <a:ext cx="11055531" cy="765668"/>
            </a:xfrm>
            <a:prstGeom prst="roundRect">
              <a:avLst>
                <a:gd name="adj" fmla="val 11955"/>
              </a:avLst>
            </a:prstGeom>
            <a:solidFill>
              <a:srgbClr val="F7F3E7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628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9269" y="1561746"/>
              <a:ext cx="44283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Obj. 3 – Bluetooth Manual Control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107577" y="1421360"/>
              <a:ext cx="6527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Commands: F=Forward, B=Backward, L=Left, R=Right, S=Stop via smartphone app.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57344" y="4271679"/>
            <a:ext cx="11177453" cy="765668"/>
            <a:chOff x="557347" y="1363578"/>
            <a:chExt cx="11177453" cy="765668"/>
          </a:xfrm>
        </p:grpSpPr>
        <p:sp>
          <p:nvSpPr>
            <p:cNvPr id="30" name="Rounded Rectangle 29"/>
            <p:cNvSpPr/>
            <p:nvPr/>
          </p:nvSpPr>
          <p:spPr>
            <a:xfrm>
              <a:off x="557347" y="1363578"/>
              <a:ext cx="11177453" cy="765668"/>
            </a:xfrm>
            <a:prstGeom prst="roundRect">
              <a:avLst/>
            </a:prstGeom>
            <a:solidFill>
              <a:srgbClr val="791628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628"/>
                </a:solidFill>
              </a:endParaRP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79269" y="1363578"/>
              <a:ext cx="11055531" cy="765668"/>
            </a:xfrm>
            <a:prstGeom prst="roundRect">
              <a:avLst>
                <a:gd name="adj" fmla="val 11955"/>
              </a:avLst>
            </a:prstGeom>
            <a:solidFill>
              <a:srgbClr val="FDEBE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628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79269" y="1561746"/>
              <a:ext cx="44283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Obj. 4 – Voice Control with Safety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107577" y="1421360"/>
              <a:ext cx="6527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Voice commands via app. Safety check before Left or Right turn blocks if less than 10 cm.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57343" y="5241046"/>
            <a:ext cx="11177453" cy="765668"/>
            <a:chOff x="557347" y="1363578"/>
            <a:chExt cx="11177453" cy="765668"/>
          </a:xfrm>
        </p:grpSpPr>
        <p:sp>
          <p:nvSpPr>
            <p:cNvPr id="35" name="Rounded Rectangle 34"/>
            <p:cNvSpPr/>
            <p:nvPr/>
          </p:nvSpPr>
          <p:spPr>
            <a:xfrm>
              <a:off x="557347" y="1363578"/>
              <a:ext cx="11177453" cy="765668"/>
            </a:xfrm>
            <a:prstGeom prst="roundRect">
              <a:avLst/>
            </a:prstGeom>
            <a:solidFill>
              <a:srgbClr val="791628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628"/>
                </a:solidFill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679269" y="1363578"/>
              <a:ext cx="11055531" cy="765668"/>
            </a:xfrm>
            <a:prstGeom prst="roundRect">
              <a:avLst>
                <a:gd name="adj" fmla="val 11955"/>
              </a:avLst>
            </a:prstGeom>
            <a:solidFill>
              <a:srgbClr val="F7F3E7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628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79269" y="1561746"/>
              <a:ext cx="44283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Obj. 5 – Modular Code Design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107577" y="1421360"/>
              <a:ext cx="65270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3 separate functions: Obstacle, Bluetooth control, voice control 1-line mode switching.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11144913" y="6440542"/>
            <a:ext cx="99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rgbClr val="791628"/>
                </a:solidFill>
              </a:rPr>
              <a:t>02</a:t>
            </a:r>
            <a:endParaRPr lang="en-US" dirty="0">
              <a:solidFill>
                <a:srgbClr val="7916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278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 flipV="1">
            <a:off x="557349" y="768639"/>
            <a:ext cx="11077303" cy="18674"/>
          </a:xfrm>
          <a:prstGeom prst="line">
            <a:avLst/>
          </a:prstGeom>
          <a:ln w="28575">
            <a:solidFill>
              <a:srgbClr val="7916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7348" y="182666"/>
            <a:ext cx="11177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791628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57347" y="926432"/>
            <a:ext cx="11177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 today's era of automation, this project presents a </a:t>
            </a:r>
            <a:r>
              <a:rPr lang="en-US" b="1" dirty="0" smtClean="0">
                <a:solidFill>
                  <a:srgbClr val="7916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three-mode intelligent robot car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built on Arduino UNO combining autonomous sensing, wireless control, and voice interaction in one affordable platform.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347" y="4562462"/>
            <a:ext cx="65609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Problem Addressed:</a:t>
            </a:r>
          </a:p>
          <a:p>
            <a:pPr algn="just"/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 Low-cost robots support only 1 mode</a:t>
            </a:r>
          </a:p>
          <a:p>
            <a:pPr algn="just"/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 Bluetooth cars execute commands blindly - no safety</a:t>
            </a:r>
          </a:p>
          <a:p>
            <a:pPr algn="just"/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 Voice control rarely implemented at student level</a:t>
            </a: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✓ This project solves all three at approximately Rs.1,200.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57347" y="1997613"/>
            <a:ext cx="2355670" cy="2259345"/>
            <a:chOff x="557347" y="2194559"/>
            <a:chExt cx="2355670" cy="2259345"/>
          </a:xfrm>
        </p:grpSpPr>
        <p:sp>
          <p:nvSpPr>
            <p:cNvPr id="5" name="Rounded Rectangle 4"/>
            <p:cNvSpPr/>
            <p:nvPr/>
          </p:nvSpPr>
          <p:spPr>
            <a:xfrm>
              <a:off x="557347" y="2194559"/>
              <a:ext cx="2355670" cy="2259345"/>
            </a:xfrm>
            <a:prstGeom prst="roundRect">
              <a:avLst>
                <a:gd name="adj" fmla="val 8280"/>
              </a:avLst>
            </a:prstGeom>
            <a:solidFill>
              <a:srgbClr val="791628"/>
            </a:solidFill>
            <a:ln>
              <a:solidFill>
                <a:schemeClr val="bg2">
                  <a:lumMod val="9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557347" y="2292134"/>
              <a:ext cx="2355670" cy="2161770"/>
            </a:xfrm>
            <a:prstGeom prst="roundRect">
              <a:avLst>
                <a:gd name="adj" fmla="val 8280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57347" y="2428356"/>
              <a:ext cx="23556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79162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 2 - Bluetooth Control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09598" y="3132850"/>
              <a:ext cx="225116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Autonomous navigation using HC-SR04 ultrasonic sensor.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3204753" y="1997612"/>
            <a:ext cx="2355670" cy="2259345"/>
            <a:chOff x="557347" y="2194559"/>
            <a:chExt cx="2355670" cy="2259345"/>
          </a:xfrm>
        </p:grpSpPr>
        <p:sp>
          <p:nvSpPr>
            <p:cNvPr id="51" name="Rounded Rectangle 50"/>
            <p:cNvSpPr/>
            <p:nvPr/>
          </p:nvSpPr>
          <p:spPr>
            <a:xfrm>
              <a:off x="557347" y="2194559"/>
              <a:ext cx="2355670" cy="2259345"/>
            </a:xfrm>
            <a:prstGeom prst="roundRect">
              <a:avLst>
                <a:gd name="adj" fmla="val 8280"/>
              </a:avLst>
            </a:prstGeom>
            <a:solidFill>
              <a:srgbClr val="791628"/>
            </a:solidFill>
            <a:ln>
              <a:solidFill>
                <a:schemeClr val="bg2">
                  <a:lumMod val="9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557347" y="2292134"/>
              <a:ext cx="2355670" cy="2161770"/>
            </a:xfrm>
            <a:prstGeom prst="roundRect">
              <a:avLst>
                <a:gd name="adj" fmla="val 8280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57347" y="2428356"/>
              <a:ext cx="23556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79162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 2 - Bluetooth Control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09598" y="3132850"/>
              <a:ext cx="225116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Autonomous navigation using HC-SR04 ultrasonic sensor.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852159" y="1997611"/>
            <a:ext cx="2355670" cy="2259345"/>
            <a:chOff x="557347" y="2194559"/>
            <a:chExt cx="2355670" cy="2259345"/>
          </a:xfrm>
        </p:grpSpPr>
        <p:sp>
          <p:nvSpPr>
            <p:cNvPr id="56" name="Rounded Rectangle 55"/>
            <p:cNvSpPr/>
            <p:nvPr/>
          </p:nvSpPr>
          <p:spPr>
            <a:xfrm>
              <a:off x="557347" y="2194559"/>
              <a:ext cx="2355670" cy="2259345"/>
            </a:xfrm>
            <a:prstGeom prst="roundRect">
              <a:avLst>
                <a:gd name="adj" fmla="val 8280"/>
              </a:avLst>
            </a:prstGeom>
            <a:solidFill>
              <a:srgbClr val="791628"/>
            </a:solidFill>
            <a:ln>
              <a:solidFill>
                <a:schemeClr val="bg2">
                  <a:lumMod val="9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557347" y="2292134"/>
              <a:ext cx="2355670" cy="2161770"/>
            </a:xfrm>
            <a:prstGeom prst="roundRect">
              <a:avLst>
                <a:gd name="adj" fmla="val 8280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57347" y="2428356"/>
              <a:ext cx="23556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79162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 2 - Bluetooth Control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09598" y="3132850"/>
              <a:ext cx="225116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Autonomous navigation using HC-SR04 ultrasonic sensor.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313" y="1997611"/>
            <a:ext cx="3582422" cy="36952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0" name="TextBox 59"/>
          <p:cNvSpPr txBox="1"/>
          <p:nvPr/>
        </p:nvSpPr>
        <p:spPr>
          <a:xfrm>
            <a:off x="11144913" y="6440542"/>
            <a:ext cx="99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rgbClr val="791628"/>
                </a:solidFill>
              </a:rPr>
              <a:t>03</a:t>
            </a:r>
            <a:endParaRPr lang="en-US" dirty="0">
              <a:solidFill>
                <a:srgbClr val="7916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746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 flipV="1">
            <a:off x="557349" y="768639"/>
            <a:ext cx="11077303" cy="18674"/>
          </a:xfrm>
          <a:prstGeom prst="line">
            <a:avLst/>
          </a:prstGeom>
          <a:ln w="28575">
            <a:solidFill>
              <a:srgbClr val="7916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7348" y="182666"/>
            <a:ext cx="11177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System Block Diagram</a:t>
            </a:r>
            <a:endParaRPr lang="en-US" sz="2800" b="1" dirty="0">
              <a:solidFill>
                <a:srgbClr val="791628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4056185" y="1125415"/>
            <a:ext cx="4079631" cy="633047"/>
          </a:xfrm>
          <a:prstGeom prst="roundRect">
            <a:avLst/>
          </a:prstGeom>
          <a:solidFill>
            <a:srgbClr val="791628"/>
          </a:solidFill>
          <a:ln w="19050">
            <a:solidFill>
              <a:srgbClr val="7916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SUPPLY 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2x Li-ion 3.7V = 7.4 Total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056185" y="2096563"/>
            <a:ext cx="4079631" cy="633047"/>
          </a:xfrm>
          <a:prstGeom prst="roundRect">
            <a:avLst/>
          </a:prstGeom>
          <a:noFill/>
          <a:ln w="19050">
            <a:solidFill>
              <a:srgbClr val="7916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ARDUINO UNO </a:t>
            </a:r>
            <a:r>
              <a:rPr lang="en-US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ATmega328P, 16 MHz – Central Control Unit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94739" y="3067711"/>
            <a:ext cx="2602523" cy="633047"/>
          </a:xfrm>
          <a:prstGeom prst="roundRect">
            <a:avLst/>
          </a:prstGeom>
          <a:noFill/>
          <a:ln w="19050">
            <a:solidFill>
              <a:srgbClr val="7916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 – SROR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Ultrasonic Sensor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78" y="3067711"/>
            <a:ext cx="2602523" cy="633047"/>
          </a:xfrm>
          <a:prstGeom prst="roundRect">
            <a:avLst/>
          </a:prstGeom>
          <a:noFill/>
          <a:ln w="19050">
            <a:solidFill>
              <a:srgbClr val="7916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SG90 Servo Motor </a:t>
            </a:r>
            <a:r>
              <a:rPr lang="en-US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Scanning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77000" y="3067711"/>
            <a:ext cx="2602523" cy="633047"/>
          </a:xfrm>
          <a:prstGeom prst="roundRect">
            <a:avLst/>
          </a:prstGeom>
          <a:noFill/>
          <a:ln w="19050">
            <a:solidFill>
              <a:srgbClr val="7916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HC-05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Bluetooth Module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77000" y="4038859"/>
            <a:ext cx="4783016" cy="416386"/>
          </a:xfrm>
          <a:prstGeom prst="roundRect">
            <a:avLst/>
          </a:prstGeom>
          <a:noFill/>
          <a:ln w="19050">
            <a:solidFill>
              <a:srgbClr val="7916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L293D Motor Driver Shield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77000" y="4733336"/>
            <a:ext cx="919086" cy="467971"/>
          </a:xfrm>
          <a:prstGeom prst="roundRect">
            <a:avLst/>
          </a:prstGeom>
          <a:noFill/>
          <a:ln w="19050">
            <a:solidFill>
              <a:srgbClr val="7916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M1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040930" y="4733338"/>
            <a:ext cx="919086" cy="467971"/>
          </a:xfrm>
          <a:prstGeom prst="roundRect">
            <a:avLst/>
          </a:prstGeom>
          <a:noFill/>
          <a:ln w="19050">
            <a:solidFill>
              <a:srgbClr val="7916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M1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779522" y="4733336"/>
            <a:ext cx="919086" cy="467971"/>
          </a:xfrm>
          <a:prstGeom prst="roundRect">
            <a:avLst/>
          </a:prstGeom>
          <a:noFill/>
          <a:ln w="19050">
            <a:solidFill>
              <a:srgbClr val="7916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M1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478261" y="4733337"/>
            <a:ext cx="919086" cy="467971"/>
          </a:xfrm>
          <a:prstGeom prst="roundRect">
            <a:avLst/>
          </a:prstGeom>
          <a:noFill/>
          <a:ln w="19050">
            <a:solidFill>
              <a:srgbClr val="7916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M1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Arrow Connector 35"/>
          <p:cNvCxnSpPr>
            <a:stCxn id="23" idx="2"/>
            <a:endCxn id="24" idx="0"/>
          </p:cNvCxnSpPr>
          <p:nvPr/>
        </p:nvCxnSpPr>
        <p:spPr>
          <a:xfrm>
            <a:off x="6096001" y="2729610"/>
            <a:ext cx="0" cy="338101"/>
          </a:xfrm>
          <a:prstGeom prst="straightConnector1">
            <a:avLst/>
          </a:prstGeom>
          <a:ln w="19050">
            <a:solidFill>
              <a:srgbClr val="791628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" idx="2"/>
            <a:endCxn id="23" idx="0"/>
          </p:cNvCxnSpPr>
          <p:nvPr/>
        </p:nvCxnSpPr>
        <p:spPr>
          <a:xfrm>
            <a:off x="6096001" y="1758462"/>
            <a:ext cx="0" cy="338101"/>
          </a:xfrm>
          <a:prstGeom prst="straightConnector1">
            <a:avLst/>
          </a:prstGeom>
          <a:ln w="19050">
            <a:solidFill>
              <a:srgbClr val="791628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23" idx="1"/>
            <a:endCxn id="26" idx="0"/>
          </p:cNvCxnSpPr>
          <p:nvPr/>
        </p:nvCxnSpPr>
        <p:spPr>
          <a:xfrm rot="10800000" flipV="1">
            <a:off x="2478263" y="2413087"/>
            <a:ext cx="1577923" cy="654624"/>
          </a:xfrm>
          <a:prstGeom prst="bentConnector2">
            <a:avLst/>
          </a:prstGeom>
          <a:ln w="19050">
            <a:solidFill>
              <a:srgbClr val="791628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23" idx="3"/>
            <a:endCxn id="25" idx="0"/>
          </p:cNvCxnSpPr>
          <p:nvPr/>
        </p:nvCxnSpPr>
        <p:spPr>
          <a:xfrm>
            <a:off x="8135816" y="2413087"/>
            <a:ext cx="1577924" cy="654624"/>
          </a:xfrm>
          <a:prstGeom prst="bentConnector2">
            <a:avLst/>
          </a:prstGeom>
          <a:ln w="19050">
            <a:solidFill>
              <a:srgbClr val="791628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26" idx="2"/>
          </p:cNvCxnSpPr>
          <p:nvPr/>
        </p:nvCxnSpPr>
        <p:spPr>
          <a:xfrm flipH="1">
            <a:off x="2478261" y="3700758"/>
            <a:ext cx="1" cy="338101"/>
          </a:xfrm>
          <a:prstGeom prst="straightConnector1">
            <a:avLst/>
          </a:prstGeom>
          <a:ln w="19050">
            <a:solidFill>
              <a:srgbClr val="791628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endCxn id="28" idx="0"/>
          </p:cNvCxnSpPr>
          <p:nvPr/>
        </p:nvCxnSpPr>
        <p:spPr>
          <a:xfrm>
            <a:off x="1636543" y="4455245"/>
            <a:ext cx="0" cy="278091"/>
          </a:xfrm>
          <a:prstGeom prst="straightConnector1">
            <a:avLst/>
          </a:prstGeom>
          <a:ln w="19050">
            <a:solidFill>
              <a:srgbClr val="791628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endCxn id="31" idx="0"/>
          </p:cNvCxnSpPr>
          <p:nvPr/>
        </p:nvCxnSpPr>
        <p:spPr>
          <a:xfrm>
            <a:off x="2937804" y="4455245"/>
            <a:ext cx="0" cy="278092"/>
          </a:xfrm>
          <a:prstGeom prst="straightConnector1">
            <a:avLst/>
          </a:prstGeom>
          <a:ln w="19050">
            <a:solidFill>
              <a:srgbClr val="791628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endCxn id="30" idx="0"/>
          </p:cNvCxnSpPr>
          <p:nvPr/>
        </p:nvCxnSpPr>
        <p:spPr>
          <a:xfrm>
            <a:off x="4239064" y="4455245"/>
            <a:ext cx="1" cy="278091"/>
          </a:xfrm>
          <a:prstGeom prst="straightConnector1">
            <a:avLst/>
          </a:prstGeom>
          <a:ln w="19050">
            <a:solidFill>
              <a:srgbClr val="791628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endCxn id="29" idx="0"/>
          </p:cNvCxnSpPr>
          <p:nvPr/>
        </p:nvCxnSpPr>
        <p:spPr>
          <a:xfrm>
            <a:off x="5500473" y="4455245"/>
            <a:ext cx="0" cy="278093"/>
          </a:xfrm>
          <a:prstGeom prst="straightConnector1">
            <a:avLst/>
          </a:prstGeom>
          <a:ln w="19050">
            <a:solidFill>
              <a:srgbClr val="791628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177000" y="5241726"/>
            <a:ext cx="919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DC Gear Motor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76238" y="5201307"/>
            <a:ext cx="919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DC Gear Motor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92663" y="5241726"/>
            <a:ext cx="919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DC Gear Motor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91901" y="5241274"/>
            <a:ext cx="919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DC Gear Motor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51358" y="5241274"/>
            <a:ext cx="55398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  <a:latin typeface="Georgia" panose="02040502050405020303" pitchFamily="18" charset="0"/>
              </a:rPr>
              <a:t>→ Android App to HC-05 to Arduino – Commands</a:t>
            </a:r>
          </a:p>
          <a:p>
            <a:pPr algn="just"/>
            <a:r>
              <a:rPr lang="en-US" sz="1600" dirty="0" smtClean="0">
                <a:latin typeface="Georgia" panose="02040502050405020303" pitchFamily="18" charset="0"/>
              </a:rPr>
              <a:t>→ HC-SR04 to Arduino Real-time distance data</a:t>
            </a:r>
          </a:p>
          <a:p>
            <a:pPr algn="just"/>
            <a:r>
              <a:rPr lang="en-US" sz="1600" dirty="0" smtClean="0">
                <a:latin typeface="Georgia" panose="02040502050405020303" pitchFamily="18" charset="0"/>
              </a:rPr>
              <a:t>→ Arduino to L293D Shield to M1 through M4 Motors</a:t>
            </a:r>
            <a:endParaRPr lang="en-US" sz="1600" dirty="0" smtClean="0"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144913" y="6440542"/>
            <a:ext cx="99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rgbClr val="791628"/>
                </a:solidFill>
              </a:rPr>
              <a:t>04</a:t>
            </a:r>
            <a:endParaRPr lang="en-US" dirty="0">
              <a:solidFill>
                <a:srgbClr val="7916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736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 flipV="1">
            <a:off x="557349" y="768639"/>
            <a:ext cx="11077303" cy="18674"/>
          </a:xfrm>
          <a:prstGeom prst="line">
            <a:avLst/>
          </a:prstGeom>
          <a:ln w="28575">
            <a:solidFill>
              <a:srgbClr val="7916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7348" y="182666"/>
            <a:ext cx="11177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Circuit Connection &amp; Pin Configuration</a:t>
            </a:r>
            <a:endParaRPr lang="en-US" sz="2800" b="1" dirty="0">
              <a:solidFill>
                <a:srgbClr val="791628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0" name="Table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530992"/>
              </p:ext>
            </p:extLst>
          </p:nvPr>
        </p:nvGraphicFramePr>
        <p:xfrm>
          <a:off x="557346" y="890509"/>
          <a:ext cx="7907780" cy="5676552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3228184"/>
                <a:gridCol w="1616285"/>
                <a:gridCol w="3063311"/>
              </a:tblGrid>
              <a:tr h="3153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Connected To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1628"/>
                    </a:solidFill>
                  </a:tcPr>
                </a:tc>
              </a:tr>
              <a:tr h="315364"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HC-SR04 Ultrasonic Sensor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Al Digital Output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536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ECHO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Arduino A0 Digital Input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</a:tr>
              <a:tr h="31536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VCC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5V Power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536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GND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GND Ground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</a:tr>
              <a:tr h="315364">
                <a:tc row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SC90 Servo Motor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 (Orange)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Pin 10 PWM Output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536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VCC</a:t>
                      </a:r>
                      <a:r>
                        <a:rPr lang="en-US" sz="16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(Red)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5V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</a:tr>
              <a:tr h="31536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GND (Brown)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GND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5364"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HC-05 Bluetooth Module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TX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it-IT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Pin 0 RX Serial In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</a:tr>
              <a:tr h="31536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RX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Arduino Pin 1 TX Serial Out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536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VCC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5V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</a:tr>
              <a:tr h="31536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GND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GND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53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 Motor M1 (Front-Left)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Both Wires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Shield M1 Terminal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</a:tr>
              <a:tr h="3153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 Motor M2 (Rear-Left)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Both Wires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Shield M2 Terminal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53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 Motor M3 (Front-Right)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Both Wires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Shield M3 Terminal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</a:tr>
              <a:tr h="3153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 Motor M4 (Rear-Right)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Both</a:t>
                      </a:r>
                      <a:r>
                        <a:rPr lang="en-US" sz="16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Wires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Shield M4 Terminal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536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Battery Pack (7.4V)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Positive (+)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Shield EXT PWR positive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DDC2"/>
                    </a:solidFill>
                  </a:tcPr>
                </a:tc>
              </a:tr>
              <a:tr h="315364"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Negative (-)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 PWR negative GND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86" name="Rounded Rectangle 85"/>
          <p:cNvSpPr/>
          <p:nvPr/>
        </p:nvSpPr>
        <p:spPr>
          <a:xfrm>
            <a:off x="8655269" y="930166"/>
            <a:ext cx="3079531" cy="5596758"/>
          </a:xfrm>
          <a:prstGeom prst="roundRect">
            <a:avLst>
              <a:gd name="adj" fmla="val 6940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7916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2800" dirty="0">
              <a:solidFill>
                <a:srgbClr val="791628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1144913" y="6440542"/>
            <a:ext cx="99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rgbClr val="791628"/>
                </a:solidFill>
              </a:rPr>
              <a:t>05</a:t>
            </a:r>
            <a:endParaRPr lang="en-US" dirty="0">
              <a:solidFill>
                <a:srgbClr val="7916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015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 flipV="1">
            <a:off x="557349" y="768639"/>
            <a:ext cx="11077303" cy="18674"/>
          </a:xfrm>
          <a:prstGeom prst="line">
            <a:avLst/>
          </a:prstGeom>
          <a:ln w="28575">
            <a:solidFill>
              <a:srgbClr val="7916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7348" y="182666"/>
            <a:ext cx="11177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Step-by-Step Working Principle</a:t>
            </a:r>
            <a:endParaRPr lang="en-US" sz="2800" b="1" dirty="0">
              <a:solidFill>
                <a:srgbClr val="791628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557346" y="1059543"/>
            <a:ext cx="5190311" cy="5471886"/>
            <a:chOff x="557346" y="1059543"/>
            <a:chExt cx="5190311" cy="54718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" name="Rounded Rectangle 1"/>
            <p:cNvSpPr/>
            <p:nvPr/>
          </p:nvSpPr>
          <p:spPr>
            <a:xfrm>
              <a:off x="557348" y="1059543"/>
              <a:ext cx="5190309" cy="5471886"/>
            </a:xfrm>
            <a:prstGeom prst="roundRect">
              <a:avLst>
                <a:gd name="adj" fmla="val 6301"/>
              </a:avLst>
            </a:prstGeom>
            <a:solidFill>
              <a:srgbClr val="7916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57347" y="1140970"/>
              <a:ext cx="5190309" cy="5390459"/>
            </a:xfrm>
            <a:prstGeom prst="roundRect">
              <a:avLst>
                <a:gd name="adj" fmla="val 434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57346" y="1294967"/>
              <a:ext cx="51903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Mode 1 – Obstacle Avoidance</a:t>
              </a:r>
              <a:endParaRPr 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48787" y="1875232"/>
              <a:ext cx="5007428" cy="459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5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Step 1</a:t>
              </a:r>
              <a:r>
                <a:rPr lang="en-US" sz="15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: Power ON - Servo centers at </a:t>
              </a:r>
              <a:r>
                <a:rPr lang="en-US" sz="1500" b="1" dirty="0" smtClean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103 degrees </a:t>
              </a:r>
              <a:r>
                <a:rPr lang="en-US" sz="15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- Motors speed set to </a:t>
              </a:r>
              <a:r>
                <a:rPr lang="en-US" sz="1500" b="1" dirty="0" smtClean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170</a:t>
              </a:r>
              <a:r>
                <a:rPr lang="en-US" sz="15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Step 2</a:t>
              </a:r>
              <a:r>
                <a:rPr lang="en-US" sz="15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: HC-SR04 fires 10 microsecond pulse from TRIG pin A1.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Step 3</a:t>
              </a:r>
              <a:r>
                <a:rPr lang="en-US" sz="15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: Distance equals Echo pulse divided by 29 divided by 2, result in cm.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Step 4</a:t>
              </a:r>
              <a:r>
                <a:rPr lang="en-US" sz="15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: If distance greater than </a:t>
              </a:r>
              <a:r>
                <a:rPr lang="en-US" sz="1500" b="1" dirty="0" smtClean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 cm </a:t>
              </a:r>
              <a:r>
                <a:rPr lang="en-US" sz="15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-execute forward function.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Step 5</a:t>
              </a:r>
              <a:r>
                <a:rPr lang="en-US" sz="15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: If distance </a:t>
              </a:r>
              <a:r>
                <a:rPr lang="en-US" sz="1500" b="1" dirty="0" smtClean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 cm </a:t>
              </a:r>
              <a:r>
                <a:rPr lang="en-US" sz="15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or less-Stop, Backward 100ms, Stop. Servo to 180 degrees, measure Left. Servo to 20 degrees, measure Right. If Left less than Right, turn right </a:t>
              </a:r>
              <a:r>
                <a:rPr lang="en-US" sz="1500" b="1" dirty="0" smtClean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500ms</a:t>
              </a:r>
              <a:r>
                <a:rPr lang="en-US" sz="15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. If Left greater than Right, turn left 500ms.</a:t>
              </a: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6448695" y="1059543"/>
            <a:ext cx="5190309" cy="5471886"/>
          </a:xfrm>
          <a:prstGeom prst="roundRect">
            <a:avLst>
              <a:gd name="adj" fmla="val 6301"/>
            </a:avLst>
          </a:prstGeom>
          <a:solidFill>
            <a:srgbClr val="7916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6448694" y="1140970"/>
            <a:ext cx="5190309" cy="5390459"/>
          </a:xfrm>
          <a:prstGeom prst="roundRect">
            <a:avLst>
              <a:gd name="adj" fmla="val 434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448693" y="1294967"/>
            <a:ext cx="5190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Mode 1 – Bluetooth Control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40134" y="1875232"/>
            <a:ext cx="5007428" cy="1088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Step 1</a:t>
            </a:r>
            <a:r>
              <a:rPr lang="en-US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: HC-05 pairs with smartphone, PIN 1234.</a:t>
            </a:r>
          </a:p>
          <a:p>
            <a:pPr>
              <a:lnSpc>
                <a:spcPct val="150000"/>
              </a:lnSpc>
            </a:pPr>
            <a:r>
              <a:rPr lang="en-US" sz="1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Step 2</a:t>
            </a:r>
            <a:r>
              <a:rPr lang="en-US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: App sends character via UART at 9600 baud.</a:t>
            </a:r>
          </a:p>
          <a:p>
            <a:pPr>
              <a:lnSpc>
                <a:spcPct val="150000"/>
              </a:lnSpc>
            </a:pPr>
            <a:r>
              <a:rPr lang="en-US" sz="1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Step 3</a:t>
            </a:r>
            <a:r>
              <a:rPr lang="en-US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: Arduino reads via </a:t>
            </a:r>
            <a:r>
              <a:rPr lang="en-US" sz="15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Serial.read</a:t>
            </a:r>
            <a:r>
              <a:rPr lang="en-US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 function.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79927"/>
              </p:ext>
            </p:extLst>
          </p:nvPr>
        </p:nvGraphicFramePr>
        <p:xfrm>
          <a:off x="6691084" y="3082143"/>
          <a:ext cx="4513944" cy="2194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56972"/>
                <a:gridCol w="2256972"/>
              </a:tblGrid>
              <a:tr h="23807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Character</a:t>
                      </a:r>
                      <a:endParaRPr lang="en-US" dirty="0"/>
                    </a:p>
                  </a:txBody>
                  <a:tcPr anchor="ctr">
                    <a:solidFill>
                      <a:srgbClr val="79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Action</a:t>
                      </a:r>
                      <a:endParaRPr lang="en-US" dirty="0"/>
                    </a:p>
                  </a:txBody>
                  <a:tcPr anchor="ctr">
                    <a:solidFill>
                      <a:srgbClr val="791628"/>
                    </a:solidFill>
                  </a:tcPr>
                </a:tc>
              </a:tr>
              <a:tr h="23807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‘F’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Forward</a:t>
                      </a:r>
                      <a:endParaRPr lang="en-US" dirty="0"/>
                    </a:p>
                  </a:txBody>
                  <a:tcPr anchor="ctr"/>
                </a:tc>
              </a:tr>
              <a:tr h="23807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‘B’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Backward</a:t>
                      </a:r>
                      <a:endParaRPr lang="en-US" dirty="0"/>
                    </a:p>
                  </a:txBody>
                  <a:tcPr anchor="ctr"/>
                </a:tc>
              </a:tr>
              <a:tr h="23807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‘L’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Left</a:t>
                      </a:r>
                      <a:endParaRPr lang="en-US" dirty="0"/>
                    </a:p>
                  </a:txBody>
                  <a:tcPr anchor="ctr"/>
                </a:tc>
              </a:tr>
              <a:tr h="23807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‘R’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Right</a:t>
                      </a:r>
                      <a:endParaRPr lang="en-US" dirty="0"/>
                    </a:p>
                  </a:txBody>
                  <a:tcPr anchor="ctr"/>
                </a:tc>
              </a:tr>
              <a:tr h="23807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‘S’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Stop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840578" y="5402940"/>
            <a:ext cx="783772" cy="783772"/>
          </a:xfrm>
          <a:prstGeom prst="round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CC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8691150" y="5402940"/>
            <a:ext cx="783772" cy="783772"/>
          </a:xfrm>
          <a:prstGeom prst="round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CC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10463346" y="5402940"/>
            <a:ext cx="783772" cy="783772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CC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762202" y="6154055"/>
            <a:ext cx="940524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 dirty="0" err="1" smtClean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RoboNex</a:t>
            </a:r>
            <a:endParaRPr lang="en-US" sz="1200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75762" y="6149790"/>
            <a:ext cx="1014548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Bluetooth</a:t>
            </a:r>
            <a:endParaRPr lang="en-US" sz="1200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463346" y="6149790"/>
            <a:ext cx="783772" cy="33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Voice</a:t>
            </a:r>
            <a:endParaRPr lang="en-US" sz="1200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144913" y="6440542"/>
            <a:ext cx="99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rgbClr val="791628"/>
                </a:solidFill>
              </a:rPr>
              <a:t>06</a:t>
            </a:r>
            <a:endParaRPr lang="en-US" dirty="0">
              <a:solidFill>
                <a:srgbClr val="7916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538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 flipV="1">
            <a:off x="557349" y="768639"/>
            <a:ext cx="11077303" cy="18674"/>
          </a:xfrm>
          <a:prstGeom prst="line">
            <a:avLst/>
          </a:prstGeom>
          <a:ln w="28575">
            <a:solidFill>
              <a:srgbClr val="7916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7348" y="182666"/>
            <a:ext cx="11177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Working Principle – Mode 3: Voice Control</a:t>
            </a:r>
            <a:endParaRPr lang="en-US" sz="2800" b="1" dirty="0">
              <a:solidFill>
                <a:srgbClr val="791628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557348" y="1452408"/>
            <a:ext cx="5190309" cy="4920343"/>
          </a:xfrm>
          <a:prstGeom prst="roundRect">
            <a:avLst>
              <a:gd name="adj" fmla="val 6301"/>
            </a:avLst>
          </a:prstGeom>
          <a:solidFill>
            <a:srgbClr val="79162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57347" y="1533835"/>
            <a:ext cx="5190309" cy="4838917"/>
          </a:xfrm>
          <a:prstGeom prst="roundRect">
            <a:avLst>
              <a:gd name="adj" fmla="val 43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48787" y="1713962"/>
            <a:ext cx="5007428" cy="4478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Step 1: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Voice command configured in app settings-5 total commands.</a:t>
            </a:r>
          </a:p>
          <a:p>
            <a:pPr>
              <a:lnSpc>
                <a:spcPct val="150000"/>
              </a:lnSpc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Step 2: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User speaks, app recognizes speech, sends character via Bluetooth.</a:t>
            </a:r>
          </a:p>
          <a:p>
            <a:pPr>
              <a:lnSpc>
                <a:spcPct val="150000"/>
              </a:lnSpc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Step 3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: Forward, Backward, Stop -immediate execution, no delay.</a:t>
            </a:r>
          </a:p>
          <a:p>
            <a:pPr>
              <a:lnSpc>
                <a:spcPct val="150000"/>
              </a:lnSpc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Step 4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: Left-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leftsee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function checks side clearance first. If 10 cm or more, execute left turn 500ms then stop. If less than 10 cm, stop immediately - safety blocked.</a:t>
            </a:r>
          </a:p>
          <a:p>
            <a:pPr>
              <a:lnSpc>
                <a:spcPct val="150000"/>
              </a:lnSpc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Step 5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: Same safety logic applies for Right using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rightsee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function.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7347" y="879092"/>
            <a:ext cx="5190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>
                <a:ln>
                  <a:solidFill>
                    <a:srgbClr val="791628"/>
                  </a:solidFill>
                </a:ln>
                <a:solidFill>
                  <a:srgbClr val="C0000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Safety – Aware Voice Command System</a:t>
            </a:r>
            <a:endParaRPr lang="en-US" sz="2000" i="1" dirty="0">
              <a:ln>
                <a:solidFill>
                  <a:srgbClr val="791628"/>
                </a:solidFill>
              </a:ln>
              <a:solidFill>
                <a:srgbClr val="C00000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922825"/>
              </p:ext>
            </p:extLst>
          </p:nvPr>
        </p:nvGraphicFramePr>
        <p:xfrm>
          <a:off x="6096001" y="1457447"/>
          <a:ext cx="5584371" cy="2494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61457"/>
                <a:gridCol w="1505856"/>
                <a:gridCol w="221705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eorgia" panose="02040502050405020303" pitchFamily="18" charset="0"/>
                        </a:rPr>
                        <a:t>Voice Word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solidFill>
                      <a:srgbClr val="79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eorgia" panose="02040502050405020303" pitchFamily="18" charset="0"/>
                        </a:rPr>
                        <a:t>Character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solidFill>
                      <a:srgbClr val="79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eorgia" panose="02040502050405020303" pitchFamily="18" charset="0"/>
                        </a:rPr>
                        <a:t>Action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solidFill>
                      <a:srgbClr val="79162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eorgia" panose="02040502050405020303" pitchFamily="18" charset="0"/>
                        </a:rPr>
                        <a:t>Forward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eorgia" panose="02040502050405020303" pitchFamily="18" charset="0"/>
                        </a:rPr>
                        <a:t>^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eorgia" panose="02040502050405020303" pitchFamily="18" charset="0"/>
                        </a:rPr>
                        <a:t>Move Forward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eorgia" panose="02040502050405020303" pitchFamily="18" charset="0"/>
                        </a:rPr>
                        <a:t>Backward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eorgia" panose="02040502050405020303" pitchFamily="18" charset="0"/>
                        </a:rPr>
                        <a:t>-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eorgia" panose="02040502050405020303" pitchFamily="18" charset="0"/>
                        </a:rPr>
                        <a:t>Move Backward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eorgia" panose="02040502050405020303" pitchFamily="18" charset="0"/>
                        </a:rPr>
                        <a:t>Left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eorgia" panose="02040502050405020303" pitchFamily="18" charset="0"/>
                        </a:rPr>
                        <a:t>&lt;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eorgia" panose="02040502050405020303" pitchFamily="18" charset="0"/>
                        </a:rPr>
                        <a:t>Check and turn left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eorgia" panose="02040502050405020303" pitchFamily="18" charset="0"/>
                        </a:rPr>
                        <a:t>Right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eorgia" panose="02040502050405020303" pitchFamily="18" charset="0"/>
                        </a:rPr>
                        <a:t>&gt;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eorgia" panose="02040502050405020303" pitchFamily="18" charset="0"/>
                        </a:rPr>
                        <a:t>Check and</a:t>
                      </a:r>
                      <a:r>
                        <a:rPr lang="en-US" baseline="0" dirty="0" smtClean="0">
                          <a:latin typeface="Georgia" panose="02040502050405020303" pitchFamily="18" charset="0"/>
                        </a:rPr>
                        <a:t> turn right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eorgia" panose="02040502050405020303" pitchFamily="18" charset="0"/>
                        </a:rPr>
                        <a:t>Stop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eorgia" panose="02040502050405020303" pitchFamily="18" charset="0"/>
                        </a:rPr>
                        <a:t>*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Georgia" panose="02040502050405020303" pitchFamily="18" charset="0"/>
                        </a:rPr>
                        <a:t>Stop all motors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146074" y="4891313"/>
            <a:ext cx="5488578" cy="1476183"/>
          </a:xfrm>
          <a:prstGeom prst="rect">
            <a:avLst/>
          </a:prstGeom>
          <a:solidFill>
            <a:srgbClr val="7916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244770" y="4891313"/>
            <a:ext cx="5389881" cy="1476183"/>
          </a:xfrm>
          <a:prstGeom prst="rect">
            <a:avLst/>
          </a:prstGeom>
          <a:solidFill>
            <a:srgbClr val="F8DD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371771" y="4967684"/>
            <a:ext cx="52628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Georgia" panose="02040502050405020303" pitchFamily="18" charset="0"/>
              </a:rPr>
              <a:t>Safety Feature</a:t>
            </a:r>
            <a:r>
              <a:rPr lang="en-US" sz="2000" dirty="0" smtClean="0">
                <a:latin typeface="Georgia" panose="02040502050405020303" pitchFamily="18" charset="0"/>
              </a:rPr>
              <a:t>: If clearance is less than</a:t>
            </a:r>
          </a:p>
          <a:p>
            <a:r>
              <a:rPr lang="en-US" sz="2000" dirty="0" smtClean="0">
                <a:latin typeface="Georgia" panose="02040502050405020303" pitchFamily="18" charset="0"/>
              </a:rPr>
              <a:t>10 cm on the turning side, the robot </a:t>
            </a:r>
            <a:r>
              <a:rPr lang="en-US" sz="2000" b="1" dirty="0" smtClean="0">
                <a:solidFill>
                  <a:srgbClr val="791628"/>
                </a:solidFill>
                <a:latin typeface="Georgia" panose="02040502050405020303" pitchFamily="18" charset="0"/>
              </a:rPr>
              <a:t>stops automatically</a:t>
            </a:r>
            <a:r>
              <a:rPr lang="en-US" sz="2000" dirty="0" smtClean="0">
                <a:latin typeface="Georgia" panose="02040502050405020303" pitchFamily="18" charset="0"/>
              </a:rPr>
              <a:t>. Collision prevention always active in Voice Mode.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144913" y="6440542"/>
            <a:ext cx="99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rgbClr val="791628"/>
                </a:solidFill>
              </a:rPr>
              <a:t>07</a:t>
            </a:r>
            <a:endParaRPr lang="en-US" dirty="0">
              <a:solidFill>
                <a:srgbClr val="7916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399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 flipV="1">
            <a:off x="557349" y="768639"/>
            <a:ext cx="11077303" cy="18674"/>
          </a:xfrm>
          <a:prstGeom prst="line">
            <a:avLst/>
          </a:prstGeom>
          <a:ln w="28575">
            <a:solidFill>
              <a:srgbClr val="7916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7348" y="182666"/>
            <a:ext cx="11177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System Flowchart</a:t>
            </a:r>
            <a:endParaRPr lang="en-US" sz="2800" b="1" dirty="0">
              <a:solidFill>
                <a:srgbClr val="791628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557348" y="1059543"/>
            <a:ext cx="5190309" cy="5471886"/>
          </a:xfrm>
          <a:prstGeom prst="roundRect">
            <a:avLst>
              <a:gd name="adj" fmla="val 6301"/>
            </a:avLst>
          </a:prstGeom>
          <a:solidFill>
            <a:srgbClr val="79162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57347" y="1140970"/>
            <a:ext cx="5190309" cy="5390459"/>
          </a:xfrm>
          <a:prstGeom prst="roundRect">
            <a:avLst>
              <a:gd name="adj" fmla="val 43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57346" y="1294967"/>
            <a:ext cx="5190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Flowchart 1 – Obstacle Avoidance Mode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48695" y="1059543"/>
            <a:ext cx="5190309" cy="5471886"/>
          </a:xfrm>
          <a:prstGeom prst="roundRect">
            <a:avLst>
              <a:gd name="adj" fmla="val 6301"/>
            </a:avLst>
          </a:prstGeom>
          <a:solidFill>
            <a:srgbClr val="79162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6448694" y="1140970"/>
            <a:ext cx="5190309" cy="5390459"/>
          </a:xfrm>
          <a:prstGeom prst="roundRect">
            <a:avLst>
              <a:gd name="adj" fmla="val 43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448693" y="1294967"/>
            <a:ext cx="5190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Flowchart 2 – Voice Control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4" t="22410" r="53276" b="10941"/>
          <a:stretch/>
        </p:blipFill>
        <p:spPr>
          <a:xfrm>
            <a:off x="885371" y="2075543"/>
            <a:ext cx="4688114" cy="391885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87" t="21959" b="11598"/>
          <a:stretch/>
        </p:blipFill>
        <p:spPr>
          <a:xfrm>
            <a:off x="6609076" y="2249714"/>
            <a:ext cx="4869543" cy="3759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144913" y="6440542"/>
            <a:ext cx="99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rgbClr val="791628"/>
                </a:solidFill>
              </a:rPr>
              <a:t>08</a:t>
            </a:r>
            <a:endParaRPr lang="en-US" dirty="0">
              <a:solidFill>
                <a:srgbClr val="7916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338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 flipV="1">
            <a:off x="557349" y="768639"/>
            <a:ext cx="11077303" cy="18674"/>
          </a:xfrm>
          <a:prstGeom prst="line">
            <a:avLst/>
          </a:prstGeom>
          <a:ln w="28575">
            <a:solidFill>
              <a:srgbClr val="7916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7348" y="182666"/>
            <a:ext cx="11177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Software Platforms Used</a:t>
            </a:r>
            <a:endParaRPr lang="en-US" sz="2800" b="1" dirty="0">
              <a:solidFill>
                <a:srgbClr val="791628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557348" y="1059543"/>
            <a:ext cx="5190309" cy="5471886"/>
          </a:xfrm>
          <a:prstGeom prst="roundRect">
            <a:avLst>
              <a:gd name="adj" fmla="val 6301"/>
            </a:avLst>
          </a:prstGeom>
          <a:solidFill>
            <a:srgbClr val="79162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57347" y="1140970"/>
            <a:ext cx="5190309" cy="5390459"/>
          </a:xfrm>
          <a:prstGeom prst="roundRect">
            <a:avLst>
              <a:gd name="adj" fmla="val 43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551275" y="1382053"/>
            <a:ext cx="3601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Arduino IDE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48695" y="1059543"/>
            <a:ext cx="5190309" cy="5471886"/>
          </a:xfrm>
          <a:prstGeom prst="roundRect">
            <a:avLst>
              <a:gd name="adj" fmla="val 6301"/>
            </a:avLst>
          </a:prstGeom>
          <a:solidFill>
            <a:srgbClr val="79162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6448694" y="1140970"/>
            <a:ext cx="5190309" cy="5390459"/>
          </a:xfrm>
          <a:prstGeom prst="roundRect">
            <a:avLst>
              <a:gd name="adj" fmla="val 43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358743" y="1382053"/>
            <a:ext cx="4135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Bluetooth Controller App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52" y="1294967"/>
            <a:ext cx="620919" cy="6209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260" y="1294967"/>
            <a:ext cx="620919" cy="62091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8787" y="1973731"/>
            <a:ext cx="5007428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 C and C++ Arduino flavored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 Write, compile and upload code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 Serial Monitor for real-time debugging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Download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arduino.cc/en/software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852" y="3907809"/>
            <a:ext cx="475706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7916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Libraries Used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Servo.h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-Controls SG90 servo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motor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signal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servo.write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angle sets position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AFMotor.h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- Controls L293D shield, FORWARD BACKWARD RELEASE and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setSpeed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0 to 255</a:t>
            </a:r>
            <a:endParaRPr lang="en-US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40134" y="1923965"/>
            <a:ext cx="500742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Platform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 Android smartphone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 Send directional and voice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cmd’s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Pairs with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 HC-05, PIN 1234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Baud Rate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 9600 bps, D-pad and voice configuration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3260" y="4275211"/>
            <a:ext cx="490117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7916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 Switching - one line at a </a:t>
            </a:r>
            <a:r>
              <a:rPr lang="en-US" b="1" dirty="0" err="1" smtClean="0">
                <a:solidFill>
                  <a:srgbClr val="7916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</a:t>
            </a:r>
            <a:endParaRPr lang="en-US" b="1" dirty="0" smtClean="0">
              <a:solidFill>
                <a:srgbClr val="7916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fr-FR" dirty="0" err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fr-FR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endParaRPr lang="fr-FR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fr-FR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comment Obstacle Mode 1</a:t>
            </a:r>
          </a:p>
          <a:p>
            <a:pPr>
              <a:lnSpc>
                <a:spcPct val="150000"/>
              </a:lnSpc>
            </a:pPr>
            <a:r>
              <a:rPr lang="fr-FR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comment </a:t>
            </a:r>
            <a:r>
              <a:rPr lang="fr-FR" dirty="0" err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Bluetoothcontrol</a:t>
            </a:r>
            <a:r>
              <a:rPr lang="fr-FR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 2</a:t>
            </a:r>
          </a:p>
          <a:p>
            <a:pPr>
              <a:lnSpc>
                <a:spcPct val="150000"/>
              </a:lnSpc>
            </a:pPr>
            <a:r>
              <a:rPr lang="fr-FR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comment </a:t>
            </a:r>
            <a:r>
              <a:rPr lang="fr-FR" dirty="0" err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voicecontrol</a:t>
            </a:r>
            <a:r>
              <a:rPr lang="fr-FR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 3</a:t>
            </a:r>
            <a:endParaRPr lang="en-US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44913" y="6440542"/>
            <a:ext cx="99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rgbClr val="791628"/>
                </a:solidFill>
              </a:rPr>
              <a:t>09</a:t>
            </a:r>
            <a:endParaRPr lang="en-US" dirty="0">
              <a:solidFill>
                <a:srgbClr val="7916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397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 flipV="1">
            <a:off x="557349" y="768639"/>
            <a:ext cx="11077303" cy="18674"/>
          </a:xfrm>
          <a:prstGeom prst="line">
            <a:avLst/>
          </a:prstGeom>
          <a:ln w="28575">
            <a:solidFill>
              <a:srgbClr val="7916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7348" y="182666"/>
            <a:ext cx="11177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Hardware Components Used</a:t>
            </a:r>
            <a:endParaRPr lang="en-US" sz="2800" b="1" dirty="0">
              <a:solidFill>
                <a:srgbClr val="791628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557626" y="981313"/>
            <a:ext cx="3177174" cy="2756970"/>
          </a:xfrm>
          <a:prstGeom prst="roundRect">
            <a:avLst>
              <a:gd name="adj" fmla="val 434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350506"/>
              </p:ext>
            </p:extLst>
          </p:nvPr>
        </p:nvGraphicFramePr>
        <p:xfrm>
          <a:off x="557348" y="966409"/>
          <a:ext cx="7759340" cy="4226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45738"/>
                <a:gridCol w="2452914"/>
                <a:gridCol w="3962400"/>
                <a:gridCol w="79828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79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79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Specification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79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Qty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79162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Arduino UNO R3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ATmega328P</a:t>
                      </a:r>
                      <a:r>
                        <a:rPr lang="en-US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16 MHz 32KB Flash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L293D</a:t>
                      </a:r>
                      <a:r>
                        <a:rPr lang="en-US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Motor Shield Driver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Motors PWM 0 to 255 </a:t>
                      </a:r>
                      <a:r>
                        <a:rPr lang="en-US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AFMotor</a:t>
                      </a:r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Library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HC-SR04 Ultrasonic Sensor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Range 2 to 400 cm plus or minus 3mm</a:t>
                      </a:r>
                      <a:r>
                        <a:rPr lang="en-US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accuracy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SG90</a:t>
                      </a:r>
                      <a:r>
                        <a:rPr lang="en-US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Servo Motor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to 180 degrees</a:t>
                      </a:r>
                      <a:r>
                        <a:rPr lang="en-US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1.8 kg cm </a:t>
                      </a:r>
                      <a:r>
                        <a:rPr lang="en-US" sz="14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torge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HC-05 Bluetooth Module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V2.0 approx. 10m range 2.4 GHz</a:t>
                      </a:r>
                      <a:r>
                        <a:rPr lang="en-US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UART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DC Gear Motor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6V approx. 150 RPM 200mA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 Wheels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Compatible with gear motor shaft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Li-ion Battery 18650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3.7V 2600mAh each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Foam Board and Cardboard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Chassis structural</a:t>
                      </a:r>
                      <a:r>
                        <a:rPr lang="en-US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material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Jumper Wires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 to Male</a:t>
                      </a:r>
                      <a:r>
                        <a:rPr lang="en-US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Male to Female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33" name="Group 32"/>
          <p:cNvGrpSpPr/>
          <p:nvPr/>
        </p:nvGrpSpPr>
        <p:grpSpPr>
          <a:xfrm>
            <a:off x="557348" y="5340420"/>
            <a:ext cx="1291772" cy="1382204"/>
            <a:chOff x="557348" y="5363028"/>
            <a:chExt cx="1291772" cy="1382204"/>
          </a:xfrm>
        </p:grpSpPr>
        <p:sp>
          <p:nvSpPr>
            <p:cNvPr id="12" name="Rounded Rectangle 11"/>
            <p:cNvSpPr/>
            <p:nvPr/>
          </p:nvSpPr>
          <p:spPr>
            <a:xfrm>
              <a:off x="557348" y="5363028"/>
              <a:ext cx="1291772" cy="1291772"/>
            </a:xfrm>
            <a:prstGeom prst="roundRect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rgbClr val="79162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60623" y="6514120"/>
              <a:ext cx="1085222" cy="23111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Arduino UNO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219187" y="5340420"/>
            <a:ext cx="1291772" cy="1382204"/>
            <a:chOff x="557348" y="5363028"/>
            <a:chExt cx="1291772" cy="1382204"/>
          </a:xfrm>
        </p:grpSpPr>
        <p:sp>
          <p:nvSpPr>
            <p:cNvPr id="35" name="Rounded Rectangle 34"/>
            <p:cNvSpPr/>
            <p:nvPr/>
          </p:nvSpPr>
          <p:spPr>
            <a:xfrm>
              <a:off x="557348" y="5363028"/>
              <a:ext cx="1291772" cy="1291772"/>
            </a:xfrm>
            <a:prstGeom prst="round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rgbClr val="79162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660623" y="6514120"/>
              <a:ext cx="1085222" cy="23111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L293D Shield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889907" y="5340420"/>
            <a:ext cx="1291772" cy="1382204"/>
            <a:chOff x="557348" y="5363028"/>
            <a:chExt cx="1291772" cy="1382204"/>
          </a:xfrm>
        </p:grpSpPr>
        <p:sp>
          <p:nvSpPr>
            <p:cNvPr id="38" name="Rounded Rectangle 37"/>
            <p:cNvSpPr/>
            <p:nvPr/>
          </p:nvSpPr>
          <p:spPr>
            <a:xfrm>
              <a:off x="557348" y="5363028"/>
              <a:ext cx="1291772" cy="1291772"/>
            </a:xfrm>
            <a:prstGeom prst="roundRect">
              <a:avLst/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rgbClr val="79162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660623" y="6514120"/>
              <a:ext cx="1085222" cy="23111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HC-SR04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522365" y="5340420"/>
            <a:ext cx="1291772" cy="1382204"/>
            <a:chOff x="557348" y="5363028"/>
            <a:chExt cx="1291772" cy="1382204"/>
          </a:xfrm>
        </p:grpSpPr>
        <p:sp>
          <p:nvSpPr>
            <p:cNvPr id="41" name="Rounded Rectangle 40"/>
            <p:cNvSpPr/>
            <p:nvPr/>
          </p:nvSpPr>
          <p:spPr>
            <a:xfrm>
              <a:off x="557348" y="5363028"/>
              <a:ext cx="1291772" cy="1291772"/>
            </a:xfrm>
            <a:prstGeom prst="roundRect">
              <a:avLst/>
            </a:prstGeom>
            <a:blipFill dpi="0"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rgbClr val="79162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660623" y="6514120"/>
              <a:ext cx="1085222" cy="23111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SG90 Servo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7254999" y="5340420"/>
            <a:ext cx="1291772" cy="1382204"/>
            <a:chOff x="557348" y="5363028"/>
            <a:chExt cx="1291772" cy="1382204"/>
          </a:xfrm>
        </p:grpSpPr>
        <p:sp>
          <p:nvSpPr>
            <p:cNvPr id="44" name="Rounded Rectangle 43"/>
            <p:cNvSpPr/>
            <p:nvPr/>
          </p:nvSpPr>
          <p:spPr>
            <a:xfrm>
              <a:off x="557348" y="5363028"/>
              <a:ext cx="1291772" cy="1291772"/>
            </a:xfrm>
            <a:prstGeom prst="roundRect">
              <a:avLst/>
            </a:prstGeom>
            <a:blipFill dpi="0"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rgbClr val="79162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660623" y="6514120"/>
              <a:ext cx="1085222" cy="23111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HC-05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8900651" y="5340420"/>
            <a:ext cx="1291772" cy="1382204"/>
            <a:chOff x="557348" y="5363028"/>
            <a:chExt cx="1291772" cy="1382204"/>
          </a:xfrm>
        </p:grpSpPr>
        <p:sp>
          <p:nvSpPr>
            <p:cNvPr id="47" name="Rounded Rectangle 46"/>
            <p:cNvSpPr/>
            <p:nvPr/>
          </p:nvSpPr>
          <p:spPr>
            <a:xfrm>
              <a:off x="557348" y="5363028"/>
              <a:ext cx="1291772" cy="1291772"/>
            </a:xfrm>
            <a:prstGeom prst="roundRect">
              <a:avLst/>
            </a:prstGeom>
            <a:blipFill dpi="0"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rgbClr val="79162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660623" y="6514120"/>
              <a:ext cx="1085222" cy="23111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DC Motor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0443028" y="5340420"/>
            <a:ext cx="1291772" cy="1382204"/>
            <a:chOff x="557348" y="5363028"/>
            <a:chExt cx="1291772" cy="1382204"/>
          </a:xfrm>
        </p:grpSpPr>
        <p:sp>
          <p:nvSpPr>
            <p:cNvPr id="50" name="Rounded Rectangle 49"/>
            <p:cNvSpPr/>
            <p:nvPr/>
          </p:nvSpPr>
          <p:spPr>
            <a:xfrm>
              <a:off x="557348" y="5363028"/>
              <a:ext cx="1291772" cy="1291772"/>
            </a:xfrm>
            <a:prstGeom prst="roundRect">
              <a:avLst/>
            </a:prstGeom>
            <a:blipFill dpi="0"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rgbClr val="79162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660623" y="6514120"/>
              <a:ext cx="1085222" cy="23111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Battery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207135"/>
              </p:ext>
            </p:extLst>
          </p:nvPr>
        </p:nvGraphicFramePr>
        <p:xfrm>
          <a:off x="8627125" y="1125970"/>
          <a:ext cx="3004400" cy="25055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06087"/>
                <a:gridCol w="1398313"/>
              </a:tblGrid>
              <a:tr h="31286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Power Consumption Summary</a:t>
                      </a:r>
                      <a:endParaRPr lang="en-US" sz="1400" dirty="0"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79162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91628"/>
                    </a:solidFill>
                  </a:tcPr>
                </a:tc>
              </a:tr>
              <a:tr h="306121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Components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Draw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06121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Arduino UNO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 mA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5947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Motors Loaded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800 mA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06121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HC-SR04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 mA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06121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SG90 Servo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 mA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06121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HC-05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r>
                        <a:rPr lang="en-US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06121">
                <a:tc>
                  <a:txBody>
                    <a:bodyPr/>
                    <a:lstStyle/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79162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 1155 mA</a:t>
                      </a:r>
                      <a:endParaRPr lang="en-US" sz="1400" b="1" dirty="0">
                        <a:solidFill>
                          <a:srgbClr val="79162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8557627" y="4141694"/>
            <a:ext cx="3177174" cy="646331"/>
          </a:xfrm>
          <a:prstGeom prst="rect">
            <a:avLst/>
          </a:prstGeom>
          <a:noFill/>
          <a:ln>
            <a:solidFill>
              <a:srgbClr val="79162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Estimated Cost:</a:t>
            </a:r>
          </a:p>
          <a:p>
            <a:pPr algn="ctr"/>
            <a:r>
              <a:rPr lang="en-US" dirty="0" smtClean="0">
                <a:solidFill>
                  <a:schemeClr val="accent2"/>
                </a:solidFill>
                <a:latin typeface="Arial Black" panose="020B0A04020102020204" pitchFamily="34" charset="0"/>
              </a:rPr>
              <a:t>Rs. 800 to 1,200/-</a:t>
            </a:r>
            <a:endParaRPr lang="en-US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1144913" y="6440542"/>
            <a:ext cx="99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rgbClr val="791628"/>
                </a:solidFill>
              </a:rPr>
              <a:t>10</a:t>
            </a:r>
            <a:endParaRPr lang="en-US" dirty="0">
              <a:solidFill>
                <a:srgbClr val="7916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595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 flipV="1">
            <a:off x="557349" y="768639"/>
            <a:ext cx="11077303" cy="18674"/>
          </a:xfrm>
          <a:prstGeom prst="line">
            <a:avLst/>
          </a:prstGeom>
          <a:ln w="28575">
            <a:solidFill>
              <a:srgbClr val="7916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7348" y="182666"/>
            <a:ext cx="11177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Advantages &amp; Disadvantages</a:t>
            </a:r>
            <a:endParaRPr lang="en-US" sz="2800" b="1" dirty="0">
              <a:solidFill>
                <a:srgbClr val="791628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557348" y="1059543"/>
            <a:ext cx="5413146" cy="5471886"/>
          </a:xfrm>
          <a:prstGeom prst="roundRect">
            <a:avLst>
              <a:gd name="adj" fmla="val 345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31307" y="1140970"/>
            <a:ext cx="5265228" cy="43233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Georgia" panose="02040502050405020303" pitchFamily="18" charset="0"/>
              </a:rPr>
              <a:t>Advantages</a:t>
            </a:r>
            <a:endParaRPr lang="en-US" sz="2000" b="1" dirty="0">
              <a:latin typeface="Georgia" panose="02040502050405020303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548327"/>
              </p:ext>
            </p:extLst>
          </p:nvPr>
        </p:nvGraphicFramePr>
        <p:xfrm>
          <a:off x="631307" y="1761565"/>
          <a:ext cx="5265228" cy="46634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3093"/>
                <a:gridCol w="498213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Multi-Modal</a:t>
                      </a:r>
                      <a:r>
                        <a:rPr lang="en-US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6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operating modes in 1 single platform.</a:t>
                      </a:r>
                      <a:endParaRPr lang="en-US" sz="1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Cost:</a:t>
                      </a: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Complete build only Rs. 800 to Rs. 1200.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Safety Logic: Voice </a:t>
                      </a: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 blocks unsafe turning directions.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Modular Code:</a:t>
                      </a:r>
                      <a:r>
                        <a:rPr lang="en-US" sz="1600" b="1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 line comment switches between modes.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Router: </a:t>
                      </a: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 Bluetooth pairing, no Wi-Fi needed.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Power- </a:t>
                      </a: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HC-05 Bluetooth draws only approximately 40 mA.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Beginner Friendly</a:t>
                      </a: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Open-source Arduino platform.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Expandable</a:t>
                      </a: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Camera and GPS modules easily addable.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✓</a:t>
                      </a:r>
                      <a:endParaRPr lang="en-US" sz="2000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Educational:</a:t>
                      </a: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Covers UART, PWM, ultrasonic sensing in one project.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221506" y="1059543"/>
            <a:ext cx="5413146" cy="5471886"/>
          </a:xfrm>
          <a:prstGeom prst="roundRect">
            <a:avLst>
              <a:gd name="adj" fmla="val 345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6295465" y="1140970"/>
            <a:ext cx="5265228" cy="432336"/>
          </a:xfrm>
          <a:prstGeom prst="roundRect">
            <a:avLst/>
          </a:prstGeom>
          <a:solidFill>
            <a:srgbClr val="7916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Georgia" panose="02040502050405020303" pitchFamily="18" charset="0"/>
              </a:rPr>
              <a:t>Disadvantages</a:t>
            </a:r>
            <a:endParaRPr lang="en-US" sz="2000" b="1" dirty="0">
              <a:latin typeface="Georgia" panose="02040502050405020303" pitchFamily="18" charset="0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674795"/>
              </p:ext>
            </p:extLst>
          </p:nvPr>
        </p:nvGraphicFramePr>
        <p:xfrm>
          <a:off x="6295465" y="1735415"/>
          <a:ext cx="5265228" cy="445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3093"/>
                <a:gridCol w="498213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79162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×</a:t>
                      </a:r>
                      <a:endParaRPr lang="en-US" sz="2000" b="1" dirty="0">
                        <a:solidFill>
                          <a:srgbClr val="79162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Bluetooth Range: </a:t>
                      </a:r>
                      <a:r>
                        <a:rPr lang="en-US" sz="16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Effective only up to approximately 10 </a:t>
                      </a:r>
                      <a:r>
                        <a:rPr lang="en-US" sz="1600" b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metres</a:t>
                      </a:r>
                      <a:r>
                        <a:rPr lang="en-US" sz="16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US" sz="1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smtClean="0">
                          <a:solidFill>
                            <a:srgbClr val="79162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×</a:t>
                      </a:r>
                      <a:endParaRPr lang="en-US" sz="2000" b="1" dirty="0">
                        <a:solidFill>
                          <a:srgbClr val="79162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 Mode Only</a:t>
                      </a:r>
                      <a:r>
                        <a:rPr lang="en-US" sz="16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6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Cannot run two modes simultaneously.</a:t>
                      </a:r>
                      <a:endParaRPr lang="en-US" sz="1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smtClean="0">
                          <a:solidFill>
                            <a:srgbClr val="79162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×</a:t>
                      </a:r>
                      <a:endParaRPr lang="en-US" sz="2000" b="1" dirty="0">
                        <a:solidFill>
                          <a:srgbClr val="79162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Camera</a:t>
                      </a:r>
                      <a:r>
                        <a:rPr lang="en-US" sz="16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r>
                        <a:rPr lang="en-US" sz="16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live video feed during operation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smtClean="0">
                          <a:solidFill>
                            <a:srgbClr val="79162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×</a:t>
                      </a:r>
                      <a:endParaRPr lang="en-US" sz="2000" b="1" dirty="0">
                        <a:solidFill>
                          <a:srgbClr val="79162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Fragile Chassis: </a:t>
                      </a:r>
                      <a:r>
                        <a:rPr lang="en-US" sz="16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Foam board not waterproof or </a:t>
                      </a:r>
                      <a:r>
                        <a:rPr lang="en-US" sz="1600" b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</a:t>
                      </a:r>
                      <a:r>
                        <a:rPr lang="en-US" sz="16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resistant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smtClean="0">
                          <a:solidFill>
                            <a:srgbClr val="79162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×</a:t>
                      </a:r>
                      <a:endParaRPr lang="en-US" sz="2000" b="1" dirty="0">
                        <a:solidFill>
                          <a:srgbClr val="79162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Sensor Limitation:</a:t>
                      </a:r>
                      <a:r>
                        <a:rPr lang="en-US" sz="1600" b="1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HC-SR04 struggles with soft or angled surfaces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smtClean="0">
                          <a:solidFill>
                            <a:srgbClr val="79162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×</a:t>
                      </a:r>
                      <a:endParaRPr lang="en-US" sz="2000" b="1" dirty="0">
                        <a:solidFill>
                          <a:srgbClr val="79162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Battery Indicator</a:t>
                      </a:r>
                      <a:r>
                        <a:rPr lang="en-US" sz="16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r>
                        <a:rPr lang="en-US" sz="16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Sudden shutdown without warning possible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smtClean="0">
                          <a:solidFill>
                            <a:srgbClr val="79162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×</a:t>
                      </a:r>
                      <a:endParaRPr lang="en-US" sz="2000" b="1" dirty="0">
                        <a:solidFill>
                          <a:srgbClr val="79162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iOS</a:t>
                      </a:r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Incompatible:</a:t>
                      </a:r>
                      <a:r>
                        <a:rPr lang="en-US" sz="16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HC-05 not supported on Apple devices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smtClean="0">
                          <a:solidFill>
                            <a:srgbClr val="79162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×</a:t>
                      </a:r>
                      <a:endParaRPr lang="en-US" sz="2000" b="1" dirty="0">
                        <a:solidFill>
                          <a:srgbClr val="79162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Real-Time Feedback</a:t>
                      </a:r>
                      <a:r>
                        <a:rPr lang="en-US" sz="16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App does not display live distance or status</a:t>
                      </a:r>
                      <a:endParaRPr lang="en-US" sz="1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11144913" y="6440542"/>
            <a:ext cx="99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rgbClr val="791628"/>
                </a:solidFill>
              </a:rPr>
              <a:t>11</a:t>
            </a:r>
            <a:endParaRPr lang="en-US" dirty="0">
              <a:solidFill>
                <a:srgbClr val="7916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751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 flipV="1">
            <a:off x="557349" y="768639"/>
            <a:ext cx="11077303" cy="18674"/>
          </a:xfrm>
          <a:prstGeom prst="line">
            <a:avLst/>
          </a:prstGeom>
          <a:ln w="28575">
            <a:solidFill>
              <a:srgbClr val="7916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7348" y="182666"/>
            <a:ext cx="11177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Test Results &amp; Observation</a:t>
            </a:r>
            <a:endParaRPr lang="en-US" sz="2800" b="1" dirty="0">
              <a:solidFill>
                <a:srgbClr val="791628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557348" y="1059543"/>
            <a:ext cx="8021876" cy="2934234"/>
          </a:xfrm>
          <a:prstGeom prst="roundRect">
            <a:avLst>
              <a:gd name="adj" fmla="val 6301"/>
            </a:avLst>
          </a:prstGeom>
          <a:solidFill>
            <a:srgbClr val="79162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57347" y="1140971"/>
            <a:ext cx="8021877" cy="2852806"/>
          </a:xfrm>
          <a:prstGeom prst="roundRect">
            <a:avLst>
              <a:gd name="adj" fmla="val 43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954559"/>
              </p:ext>
            </p:extLst>
          </p:nvPr>
        </p:nvGraphicFramePr>
        <p:xfrm>
          <a:off x="712692" y="1634066"/>
          <a:ext cx="7732064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48120"/>
                <a:gridCol w="2117912"/>
                <a:gridCol w="1933016"/>
                <a:gridCol w="193301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 cm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79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Measured cm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79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Error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79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79162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cm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cm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cm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STOP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cm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to 11 cm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 cm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STOP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cm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to 13 cm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  1cm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Threshold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 cm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 cm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FORWARD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 cm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 to 31 cm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 1 cm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FORWARD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12693" y="1140970"/>
            <a:ext cx="7732060" cy="43233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smtClean="0">
                <a:solidFill>
                  <a:srgbClr val="791628"/>
                </a:solidFill>
                <a:latin typeface="Georgia" panose="02040502050405020303" pitchFamily="18" charset="0"/>
              </a:rPr>
              <a:t>Distance Accuracy Test</a:t>
            </a:r>
            <a:endParaRPr lang="en-US" sz="2400" b="1" dirty="0">
              <a:solidFill>
                <a:srgbClr val="791628"/>
              </a:solidFill>
              <a:latin typeface="Georgia" panose="02040502050405020303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57348" y="4175280"/>
            <a:ext cx="8021876" cy="1167348"/>
          </a:xfrm>
          <a:prstGeom prst="roundRect">
            <a:avLst>
              <a:gd name="adj" fmla="val 6301"/>
            </a:avLst>
          </a:prstGeom>
          <a:solidFill>
            <a:srgbClr val="79162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557347" y="4256707"/>
            <a:ext cx="8021877" cy="1085921"/>
          </a:xfrm>
          <a:prstGeom prst="roundRect">
            <a:avLst>
              <a:gd name="adj" fmla="val 43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557346" y="4230558"/>
            <a:ext cx="7732060" cy="43233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smtClean="0">
                <a:solidFill>
                  <a:srgbClr val="791628"/>
                </a:solidFill>
                <a:latin typeface="Georgia" panose="02040502050405020303" pitchFamily="18" charset="0"/>
              </a:rPr>
              <a:t>Bluetooth Response Test</a:t>
            </a:r>
            <a:endParaRPr lang="en-US" sz="2400" b="1" dirty="0">
              <a:solidFill>
                <a:srgbClr val="791628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57346" y="4574915"/>
            <a:ext cx="7732060" cy="66812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 All 5 commands FBLRS response time less than </a:t>
            </a:r>
            <a:r>
              <a:rPr lang="en-US" b="1" dirty="0" smtClean="0">
                <a:solidFill>
                  <a:srgbClr val="7916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milliseconds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 Stable connection up to approximately </a:t>
            </a:r>
            <a:r>
              <a:rPr lang="en-US" b="1" dirty="0" smtClean="0">
                <a:solidFill>
                  <a:srgbClr val="7916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to 9 </a:t>
            </a:r>
            <a:r>
              <a:rPr lang="en-US" b="1" dirty="0" err="1" smtClean="0">
                <a:solidFill>
                  <a:srgbClr val="7916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metres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57348" y="5489116"/>
            <a:ext cx="8021876" cy="1167348"/>
          </a:xfrm>
          <a:prstGeom prst="roundRect">
            <a:avLst>
              <a:gd name="adj" fmla="val 6301"/>
            </a:avLst>
          </a:prstGeom>
          <a:solidFill>
            <a:srgbClr val="79162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557347" y="5570543"/>
            <a:ext cx="8021877" cy="1085921"/>
          </a:xfrm>
          <a:prstGeom prst="roundRect">
            <a:avLst>
              <a:gd name="adj" fmla="val 43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557346" y="5544394"/>
            <a:ext cx="7732060" cy="43233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smtClean="0">
                <a:solidFill>
                  <a:srgbClr val="791628"/>
                </a:solidFill>
                <a:latin typeface="Georgia" panose="02040502050405020303" pitchFamily="18" charset="0"/>
              </a:rPr>
              <a:t>Safety Check Test</a:t>
            </a:r>
            <a:endParaRPr lang="en-US" sz="2400" b="1" dirty="0">
              <a:solidFill>
                <a:srgbClr val="791628"/>
              </a:solidFill>
              <a:latin typeface="Georgia" panose="02040502050405020303" pitchFamily="18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57346" y="5888751"/>
            <a:ext cx="7732060" cy="66812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 Obstacle at 6cm – Left Command – Robot </a:t>
            </a:r>
            <a:r>
              <a:rPr lang="en-US" b="1" dirty="0" smtClean="0">
                <a:solidFill>
                  <a:srgbClr val="7916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STOPPED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 Clear path at 25 cm – Right command – Robot </a:t>
            </a:r>
            <a:r>
              <a:rPr lang="en-US" b="1" dirty="0" smtClean="0">
                <a:solidFill>
                  <a:srgbClr val="7916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TURNED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734568" y="981313"/>
            <a:ext cx="3000231" cy="2609052"/>
          </a:xfrm>
          <a:prstGeom prst="roundRect">
            <a:avLst>
              <a:gd name="adj" fmla="val 434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120245"/>
              </p:ext>
            </p:extLst>
          </p:nvPr>
        </p:nvGraphicFramePr>
        <p:xfrm>
          <a:off x="8861611" y="1087182"/>
          <a:ext cx="2826830" cy="2372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13415"/>
                <a:gridCol w="141341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Voice Command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79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79162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FORWARD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90%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BACKWARD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80%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LEFT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90%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STOP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Overall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88%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734568" y="3784365"/>
            <a:ext cx="3000231" cy="863527"/>
          </a:xfrm>
          <a:prstGeom prst="roundRect">
            <a:avLst/>
          </a:prstGeom>
          <a:solidFill>
            <a:srgbClr val="FDEBE1"/>
          </a:solidFill>
          <a:ln>
            <a:solidFill>
              <a:srgbClr val="7916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 smtClean="0">
                <a:solidFill>
                  <a:srgbClr val="791628"/>
                </a:solidFill>
                <a:latin typeface="Georgia" panose="02040502050405020303" pitchFamily="18" charset="0"/>
              </a:rPr>
              <a:t>5 out of 5</a:t>
            </a:r>
          </a:p>
          <a:p>
            <a:pPr algn="ctr"/>
            <a:r>
              <a:rPr lang="en-US" sz="1900" b="1" dirty="0" smtClean="0">
                <a:solidFill>
                  <a:srgbClr val="791628"/>
                </a:solidFill>
                <a:latin typeface="Georgia" panose="02040502050405020303" pitchFamily="18" charset="0"/>
              </a:rPr>
              <a:t>Objectives Achieved ✓</a:t>
            </a:r>
            <a:endParaRPr lang="en-US" sz="1900" b="1" dirty="0">
              <a:solidFill>
                <a:srgbClr val="791628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734568" y="4841893"/>
            <a:ext cx="3000231" cy="1814572"/>
          </a:xfrm>
          <a:prstGeom prst="round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7916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791628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144913" y="6440542"/>
            <a:ext cx="99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rgbClr val="791628"/>
                </a:solidFill>
              </a:rPr>
              <a:t>12</a:t>
            </a:r>
            <a:endParaRPr lang="en-US" dirty="0">
              <a:solidFill>
                <a:srgbClr val="7916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419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 flipV="1">
            <a:off x="557349" y="768639"/>
            <a:ext cx="11077303" cy="18674"/>
          </a:xfrm>
          <a:prstGeom prst="line">
            <a:avLst/>
          </a:prstGeom>
          <a:ln w="28575">
            <a:solidFill>
              <a:srgbClr val="7916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7348" y="182666"/>
            <a:ext cx="11177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Conclusion</a:t>
            </a:r>
            <a:endParaRPr lang="en-US" sz="2800" b="1" dirty="0">
              <a:solidFill>
                <a:srgbClr val="791628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7347" y="926432"/>
            <a:ext cx="11177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This project </a:t>
            </a:r>
            <a:r>
              <a:rPr lang="en-US" b="1" dirty="0" smtClean="0">
                <a:solidFill>
                  <a:srgbClr val="7916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successfully</a:t>
            </a:r>
            <a:r>
              <a:rPr lang="en-US" dirty="0" smtClean="0">
                <a:solidFill>
                  <a:srgbClr val="7916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designed and built a Multi-Function Robot Car using Arduino UNO-a cost-effective platform integrating </a:t>
            </a:r>
            <a:r>
              <a:rPr lang="en-US" b="1" dirty="0" smtClean="0">
                <a:solidFill>
                  <a:srgbClr val="7916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control modes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into a single embedded system.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348" y="1711881"/>
            <a:ext cx="6677170" cy="2725648"/>
          </a:xfrm>
          <a:prstGeom prst="roundRect">
            <a:avLst>
              <a:gd name="adj" fmla="val 345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201783"/>
              </p:ext>
            </p:extLst>
          </p:nvPr>
        </p:nvGraphicFramePr>
        <p:xfrm>
          <a:off x="687294" y="1795431"/>
          <a:ext cx="6453094" cy="2519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41481"/>
                <a:gridCol w="865398"/>
                <a:gridCol w="384621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79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79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Result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79162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Chassis Construction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✓ Done</a:t>
                      </a:r>
                      <a:endParaRPr lang="en-US" sz="1400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Stable 4 wheel</a:t>
                      </a:r>
                      <a:r>
                        <a:rPr lang="en-US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foam board chassis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Obstacle</a:t>
                      </a:r>
                      <a:r>
                        <a:rPr lang="en-US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Avoidance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✓ Done</a:t>
                      </a:r>
                      <a:endParaRPr lang="en-US" sz="1400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cm threshold ±1 cm accuracy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Bluetooth</a:t>
                      </a:r>
                      <a:r>
                        <a:rPr lang="en-US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Control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✓ Done</a:t>
                      </a:r>
                      <a:endParaRPr lang="en-US" sz="1400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5</a:t>
                      </a:r>
                      <a:r>
                        <a:rPr lang="en-US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commands less than 50ms response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Voice and Safety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✓ Done</a:t>
                      </a:r>
                      <a:endParaRPr lang="en-US" sz="1400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88% accuracy &amp;</a:t>
                      </a:r>
                      <a:r>
                        <a:rPr lang="en-US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100% safe turn check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Modular Code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✓ Done</a:t>
                      </a:r>
                      <a:endParaRPr lang="en-US" sz="1400" b="1" dirty="0">
                        <a:solidFill>
                          <a:srgbClr val="00B05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– line mode switching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57347" y="4468528"/>
            <a:ext cx="667717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Key Learnings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UART serial communication HC-05 and Arduino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PWM motor control via L293D shield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Ultrasonic distance via </a:t>
            </a:r>
            <a:r>
              <a:rPr lang="en-US" sz="1600" dirty="0" err="1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pulseln</a:t>
            </a:r>
            <a:r>
              <a:rPr lang="en-US" sz="1600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function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Servo scanning for environment awareness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Safety-aware human-robot voice interaction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347" y="6161520"/>
            <a:ext cx="6677171" cy="53511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91628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72353" y="6161520"/>
            <a:ext cx="6562165" cy="535115"/>
          </a:xfrm>
          <a:prstGeom prst="roundRect">
            <a:avLst>
              <a:gd name="adj" fmla="val 11955"/>
            </a:avLst>
          </a:prstGeom>
          <a:solidFill>
            <a:srgbClr val="FDEBE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91628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2450" y="6170862"/>
            <a:ext cx="6304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Intelligent, multi-modal robots can be built at a fraction of commercial cost using open-source Arduino platform.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516906" y="1711881"/>
            <a:ext cx="4217894" cy="4982200"/>
          </a:xfrm>
          <a:prstGeom prst="roundRect">
            <a:avLst>
              <a:gd name="adj" fmla="val 3987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7916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rgbClr val="791628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144913" y="6440542"/>
            <a:ext cx="99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rgbClr val="791628"/>
                </a:solidFill>
              </a:rPr>
              <a:t>13</a:t>
            </a:r>
            <a:endParaRPr lang="en-US" dirty="0">
              <a:solidFill>
                <a:srgbClr val="7916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329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 flipV="1">
            <a:off x="557349" y="768639"/>
            <a:ext cx="11077303" cy="18674"/>
          </a:xfrm>
          <a:prstGeom prst="line">
            <a:avLst/>
          </a:prstGeom>
          <a:ln w="28575">
            <a:solidFill>
              <a:srgbClr val="7916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7348" y="182666"/>
            <a:ext cx="11177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Future Scope &amp; Enhancements</a:t>
            </a:r>
            <a:endParaRPr lang="en-US" sz="2800" b="1" dirty="0">
              <a:solidFill>
                <a:srgbClr val="791628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57348" y="1012633"/>
            <a:ext cx="11077304" cy="4121070"/>
          </a:xfrm>
          <a:prstGeom prst="roundRect">
            <a:avLst>
              <a:gd name="adj" fmla="val 345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557347" y="5348650"/>
            <a:ext cx="7443653" cy="1347986"/>
          </a:xfrm>
          <a:prstGeom prst="roundRect">
            <a:avLst/>
          </a:prstGeom>
          <a:solidFill>
            <a:srgbClr val="791628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91628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72354" y="5348650"/>
            <a:ext cx="7328646" cy="1347986"/>
          </a:xfrm>
          <a:prstGeom prst="roundRect">
            <a:avLst>
              <a:gd name="adj" fmla="val 11955"/>
            </a:avLst>
          </a:prstGeom>
          <a:solidFill>
            <a:srgbClr val="FDEBE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91628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97282" y="5453256"/>
            <a:ext cx="407055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7916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Immediate Next Steps</a:t>
            </a:r>
          </a:p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Add HC-05 Bluetooth status LED indicator</a:t>
            </a:r>
          </a:p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Speed control slider in Bluetooth app</a:t>
            </a:r>
          </a:p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Build custom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RoboNex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Flutter mobile app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10478"/>
              </p:ext>
            </p:extLst>
          </p:nvPr>
        </p:nvGraphicFramePr>
        <p:xfrm>
          <a:off x="620098" y="1093570"/>
          <a:ext cx="10962301" cy="400094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60985"/>
                <a:gridCol w="3475851"/>
                <a:gridCol w="2673732"/>
                <a:gridCol w="4051733"/>
              </a:tblGrid>
              <a:tr h="38228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Enhancement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Technology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Benefit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8228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Wi-Fi and </a:t>
                      </a:r>
                      <a:r>
                        <a:rPr lang="en-US" sz="12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loT</a:t>
                      </a: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Control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ESP32 module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from anywhere via internet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8228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Live Camera Feed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ESP32-CAM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Real-time video to smartphone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4713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 Flutter App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Flutter Android and </a:t>
                      </a:r>
                      <a:r>
                        <a:rPr lang="en-US" sz="12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iOS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Joystick plus radar animation plus </a:t>
                      </a:r>
                      <a:r>
                        <a:rPr lang="fr-FR" sz="12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voice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8228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360 Degree Scan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Stepper motor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Full-circle environment mapping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8228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Battery Indicator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Voltage divider circuit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Prevents sudden shutdown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8228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Speed Encoder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Hall effect sensor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 RPM closed-loop feedback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4713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 Object Detection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OpenCV</a:t>
                      </a: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with Raspberry Pi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Recognize specific objects autonomously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8228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GPS Tracking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NEO-6M GPS module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Track robot location on map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38228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Stronger Chassis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3D printed or acrylic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Waterproof and rigid structure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144913" y="6440542"/>
            <a:ext cx="99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rgbClr val="791628"/>
                </a:solidFill>
              </a:rPr>
              <a:t>14</a:t>
            </a:r>
            <a:endParaRPr lang="en-US" dirty="0">
              <a:solidFill>
                <a:srgbClr val="7916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219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 flipV="1">
            <a:off x="557349" y="768639"/>
            <a:ext cx="11077303" cy="18674"/>
          </a:xfrm>
          <a:prstGeom prst="line">
            <a:avLst/>
          </a:prstGeom>
          <a:ln w="28575">
            <a:solidFill>
              <a:srgbClr val="7916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7348" y="182666"/>
            <a:ext cx="11177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Reference &amp; Bibliography</a:t>
            </a:r>
            <a:endParaRPr lang="en-US" sz="2800" b="1" dirty="0">
              <a:solidFill>
                <a:srgbClr val="791628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557348" y="1059543"/>
            <a:ext cx="5190309" cy="3014384"/>
          </a:xfrm>
          <a:prstGeom prst="roundRect">
            <a:avLst>
              <a:gd name="adj" fmla="val 6301"/>
            </a:avLst>
          </a:prstGeom>
          <a:solidFill>
            <a:srgbClr val="79162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57347" y="1140970"/>
            <a:ext cx="5190309" cy="2932957"/>
          </a:xfrm>
          <a:prstGeom prst="roundRect">
            <a:avLst>
              <a:gd name="adj" fmla="val 43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57346" y="1160497"/>
            <a:ext cx="5190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Textbooks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48695" y="1059543"/>
            <a:ext cx="5190309" cy="3014384"/>
          </a:xfrm>
          <a:prstGeom prst="roundRect">
            <a:avLst>
              <a:gd name="adj" fmla="val 6301"/>
            </a:avLst>
          </a:prstGeom>
          <a:solidFill>
            <a:srgbClr val="7916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6448694" y="1140970"/>
            <a:ext cx="5190309" cy="2932957"/>
          </a:xfrm>
          <a:prstGeom prst="roundRect">
            <a:avLst>
              <a:gd name="adj" fmla="val 434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448693" y="1160497"/>
            <a:ext cx="5190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Datasheets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40134" y="1579398"/>
            <a:ext cx="509451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HC-SR04 Datasheet</a:t>
            </a:r>
            <a:r>
              <a:rPr lang="en-US" sz="1500" i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ElecFreaks</a:t>
            </a:r>
            <a:r>
              <a:rPr lang="en-US" sz="15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2013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HC-05 AT Command Set </a:t>
            </a:r>
            <a:r>
              <a:rPr lang="en-US" sz="15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Wavesen</a:t>
            </a:r>
            <a:r>
              <a:rPr lang="en-US" sz="15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Technologies 2011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SG90 Servo Datasheet</a:t>
            </a:r>
            <a:r>
              <a:rPr lang="en-US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TowerPro</a:t>
            </a:r>
            <a:r>
              <a:rPr lang="en-US" sz="15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2010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Bluetooth Core Specification v2.0 plus EDR Bluetooth SIG with URL </a:t>
            </a:r>
            <a:r>
              <a:rPr lang="en-US" sz="1500" dirty="0" smtClean="0">
                <a:solidFill>
                  <a:srgbClr val="7916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bluetooth.com</a:t>
            </a:r>
            <a:endParaRPr lang="en-US" sz="1500" dirty="0">
              <a:solidFill>
                <a:srgbClr val="7916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8786" y="1599852"/>
            <a:ext cx="5098869" cy="2474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1-Paul </a:t>
            </a:r>
            <a:r>
              <a:rPr lang="en-US" sz="15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Scherz</a:t>
            </a:r>
            <a:r>
              <a:rPr lang="en-US" sz="1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and Simon Monk </a:t>
            </a:r>
            <a:r>
              <a:rPr lang="en-US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i="1" dirty="0" smtClean="0">
                <a:latin typeface="Georgia" panose="02040502050405020303" pitchFamily="18" charset="0"/>
                <a:cs typeface="Arial" panose="020B0604020202020204" pitchFamily="34" charset="0"/>
              </a:rPr>
              <a:t>Practical Electronics for Inventors, 4th Edition, McGraw-Hill 2016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2-Michael Margolis</a:t>
            </a:r>
            <a:r>
              <a:rPr lang="en-US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i="1" dirty="0" smtClean="0">
                <a:latin typeface="Georgia" panose="02040502050405020303" pitchFamily="18" charset="0"/>
                <a:cs typeface="Arial" panose="020B0604020202020204" pitchFamily="34" charset="0"/>
              </a:rPr>
              <a:t>Arduino Cookbook, 2nd Edition O'Reilly Media 2012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3-Warren Adams and </a:t>
            </a:r>
            <a:r>
              <a:rPr lang="en-US" sz="15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Molle</a:t>
            </a:r>
            <a:r>
              <a:rPr lang="en-US" sz="1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500" i="1" dirty="0" smtClean="0">
                <a:latin typeface="Georgia" panose="02040502050405020303" pitchFamily="18" charset="0"/>
                <a:cs typeface="Arial" panose="020B0604020202020204" pitchFamily="34" charset="0"/>
              </a:rPr>
              <a:t>Arduino Robotics, </a:t>
            </a:r>
            <a:r>
              <a:rPr lang="en-US" sz="1500" i="1" dirty="0" err="1" smtClean="0">
                <a:latin typeface="Georgia" panose="02040502050405020303" pitchFamily="18" charset="0"/>
                <a:cs typeface="Arial" panose="020B0604020202020204" pitchFamily="34" charset="0"/>
              </a:rPr>
              <a:t>Apress</a:t>
            </a:r>
            <a:r>
              <a:rPr lang="en-US" sz="1500" i="1" dirty="0" smtClean="0">
                <a:latin typeface="Georgia" panose="02040502050405020303" pitchFamily="18" charset="0"/>
                <a:cs typeface="Arial" panose="020B0604020202020204" pitchFamily="34" charset="0"/>
              </a:rPr>
              <a:t> 2011</a:t>
            </a:r>
            <a:endParaRPr lang="en-US" sz="1500" i="1" dirty="0"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57348" y="4482352"/>
            <a:ext cx="11077304" cy="1934491"/>
          </a:xfrm>
          <a:prstGeom prst="roundRect">
            <a:avLst>
              <a:gd name="adj" fmla="val 6301"/>
            </a:avLst>
          </a:prstGeom>
          <a:solidFill>
            <a:srgbClr val="79162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/>
          <p:cNvSpPr/>
          <p:nvPr/>
        </p:nvSpPr>
        <p:spPr>
          <a:xfrm>
            <a:off x="557347" y="4568941"/>
            <a:ext cx="11077305" cy="1847902"/>
          </a:xfrm>
          <a:prstGeom prst="roundRect">
            <a:avLst>
              <a:gd name="adj" fmla="val 43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557346" y="4568941"/>
            <a:ext cx="11077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Online References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48787" y="5030606"/>
            <a:ext cx="109858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SriTu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Hobby 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'How to Make a Multi-Function Arduino Robot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‘ srituhobby.com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2. Arduino Official Arduino UNO Technical Specs arduino.cc 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Adafruit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AFMotor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Library Documentation leam.adafruit.com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44913" y="6440542"/>
            <a:ext cx="994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rgbClr val="791628"/>
                </a:solidFill>
              </a:rPr>
              <a:t>15</a:t>
            </a:r>
            <a:endParaRPr lang="en-US" dirty="0">
              <a:solidFill>
                <a:srgbClr val="7916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389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 flipV="1">
            <a:off x="557349" y="2500167"/>
            <a:ext cx="11077303" cy="18674"/>
          </a:xfrm>
          <a:prstGeom prst="line">
            <a:avLst/>
          </a:prstGeom>
          <a:ln w="28575">
            <a:solidFill>
              <a:srgbClr val="7916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8663" y="1156842"/>
            <a:ext cx="7114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THANK YOU</a:t>
            </a:r>
            <a:endParaRPr lang="en-US" sz="4800" b="1" dirty="0">
              <a:solidFill>
                <a:srgbClr val="791628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0" y="1987839"/>
            <a:ext cx="12192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Thank you for your valuable time and attention.</a:t>
            </a:r>
            <a:endParaRPr lang="en-US" sz="2400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491917" y="2862388"/>
            <a:ext cx="9360567" cy="1801290"/>
          </a:xfrm>
          <a:prstGeom prst="rect">
            <a:avLst/>
          </a:prstGeom>
          <a:solidFill>
            <a:srgbClr val="79162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80147" y="2862388"/>
            <a:ext cx="9272337" cy="1801290"/>
          </a:xfrm>
          <a:prstGeom prst="rect">
            <a:avLst/>
          </a:prstGeom>
          <a:solidFill>
            <a:srgbClr val="FD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rgbClr val="791628"/>
                </a:solidFill>
                <a:latin typeface="Script MT Bold" panose="03040602040607080904" pitchFamily="66" charset="0"/>
                <a:cs typeface="Arial" panose="020B0604020202020204" pitchFamily="34" charset="0"/>
              </a:rPr>
              <a:t>We are grateful to:</a:t>
            </a:r>
          </a:p>
          <a:p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Ms. </a:t>
            </a:r>
            <a:r>
              <a:rPr lang="en-US" sz="24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Chinmayee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Medhi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Project Supervisor and Guide</a:t>
            </a:r>
          </a:p>
          <a:p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Mr. Amit Kumar Das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Head of Department</a:t>
            </a:r>
          </a:p>
          <a:p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 </a:t>
            </a:r>
            <a:r>
              <a:rPr lang="en-US" sz="24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Jitu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Deka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Chirang Polytechnic Bijni Assam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-1" y="6294906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Electrical Engineering | Chirang Polytechnic, Bijni, Assam |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  <a:r>
              <a:rPr lang="en-US" sz="2000" b="1" baseline="300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May,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  <a:endParaRPr lang="en-US" sz="20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100" y="180349"/>
            <a:ext cx="961801" cy="96180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1" y="4871697"/>
            <a:ext cx="1215189" cy="1215189"/>
          </a:xfrm>
          <a:prstGeom prst="rect">
            <a:avLst/>
          </a:prstGeom>
          <a:ln>
            <a:solidFill>
              <a:srgbClr val="791628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4395537" y="4894515"/>
            <a:ext cx="47484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SCAN QR CODE FOR:</a:t>
            </a:r>
          </a:p>
          <a:p>
            <a:r>
              <a:rPr lang="en-US" sz="1400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Complete Project Overview  | Circuit Diagrams &amp; Code | FAQs &amp; Troubleshooting | Video Demo &amp; Working | Future Enhancements</a:t>
            </a:r>
          </a:p>
          <a:p>
            <a:r>
              <a:rPr lang="en-US" sz="1400" dirty="0" smtClean="0">
                <a:latin typeface="Georgia" panose="02040502050405020303" pitchFamily="18" charset="0"/>
                <a:cs typeface="Times New Roman" panose="02020603050405020304" pitchFamily="18" charset="0"/>
              </a:rPr>
              <a:t>Mail: </a:t>
            </a:r>
            <a:r>
              <a:rPr lang="en-US" sz="1400" dirty="0" smtClean="0">
                <a:solidFill>
                  <a:srgbClr val="7916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robotcar.chp23el@proton.me</a:t>
            </a:r>
          </a:p>
        </p:txBody>
      </p:sp>
    </p:spTree>
    <p:extLst>
      <p:ext uri="{BB962C8B-B14F-4D97-AF65-F5344CB8AC3E}">
        <p14:creationId xmlns:p14="http://schemas.microsoft.com/office/powerpoint/2010/main" val="1491486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2038</TotalTime>
  <Words>1898</Words>
  <Application>Microsoft Office PowerPoint</Application>
  <PresentationFormat>Widescreen</PresentationFormat>
  <Paragraphs>464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Georgia</vt:lpstr>
      <vt:lpstr>Script MT Bold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 alok</dc:title>
  <dc:creator>Dus Mamud</dc:creator>
  <cp:lastModifiedBy>Microsoft account</cp:lastModifiedBy>
  <cp:revision>60</cp:revision>
  <dcterms:created xsi:type="dcterms:W3CDTF">2026-05-13T07:14:07Z</dcterms:created>
  <dcterms:modified xsi:type="dcterms:W3CDTF">2026-05-25T18:09:16Z</dcterms:modified>
</cp:coreProperties>
</file>